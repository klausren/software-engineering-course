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64592" cy="22860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2103120"/>
            <a:ext cx="9692640" cy="25400"/>
          </a:xfrm>
          <a:prstGeom prst="rect">
            <a:avLst/>
          </a:prstGeom>
          <a:solidFill>
            <a:srgbClr val="4A6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Software Engineering 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软件工程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774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Course Introduction 课程介绍</a:t>
            </a:r>
            <a:r>
              <a:rPr sz="1400" b="0" i="0">
                <a:solidFill>
                  <a:srgbClr val="BDD0E8"/>
                </a:solidFill>
                <a:latin typeface="Calibri"/>
                <ns3:rFonts xmlns:ns3="http://schemas.openxmlformats.org/wordprocessingml/2006/main" ns3:eastAsia="PingFang SC"/>
              </a:rPr>
              <a:t>   第 1 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2120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4:rFonts xmlns:ns4="http://schemas.openxmlformats.org/wordprocessingml/2006/main" ns4:eastAsia="PingFang SC"/>
              </a:rPr>
              <a:t>Instructor 授课教师: Ren Zheng 任政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5:rFonts xmlns:ns5="http://schemas.openxmlformats.org/wordprocessingml/2006/main" ns5:eastAsia="PingFang SC"/>
              </a:rPr>
              <a:t>Semester 学期: 2026-2027-1  |  Class 班级: International Bilingual Class, 29 students  国际双语班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6:rFonts xmlns:ns6="http://schemas.openxmlformats.org/wordprocessingml/2006/main" ns6:eastAsia="PingFang SC"/>
              </a:rPr>
              <a:t>Department 学院: School of Software 软件学院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Contents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2:rFonts xmlns:ns2="http://schemas.openxmlformats.org/wordprocessingml/2006/main" ns2:eastAsia="PingFang SC"/>
              </a:rPr>
              <a:t>01  </a:t>
            </a:r>
            <a:r>
              <a:rPr sz="18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A. Course Overview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课程介绍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5:rFonts xmlns:ns5="http://schemas.openxmlformats.org/wordprocessingml/2006/main" ns5:eastAsia="PingFang SC"/>
              </a:rPr>
              <a:t>02  </a:t>
            </a:r>
            <a:r>
              <a:rPr sz="18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B. What is Software?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什么是软件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8:rFonts xmlns:ns8="http://schemas.openxmlformats.org/wordprocessingml/2006/main" ns8:eastAsia="PingFang SC"/>
              </a:rPr>
              <a:t>03  </a:t>
            </a:r>
            <a:r>
              <a:rPr sz="18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C. What is Software Engineering?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什么是软件工程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11:rFonts xmlns:ns11="http://schemas.openxmlformats.org/wordprocessingml/2006/main" ns11:eastAsia="PingFang SC"/>
              </a:rPr>
              <a:t>04  </a:t>
            </a:r>
            <a:r>
              <a:rPr sz="18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D. Class Activities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课堂活动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Course Overview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课程介绍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Everything you need to know about this course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本课程须知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Course Information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课程基本信息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697687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Item  项目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Detail  内容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Course Code  课程代码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SE-I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Course Title  课程名称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Software Engineering I  软件工程 I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Credit  学分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2.0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Total Hours  总学时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32 hours (Theory 24 + Practice 8)  理论24 + 实践8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Duration  教学周期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16 weeks, 2 hours / week   16周，每周2学时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14:rFonts xmlns:ns14="http://schemas.openxmlformats.org/wordprocessingml/2006/main" ns14:eastAsia="PingFang SC"/>
                        </a:rPr>
                        <a:t>Language  授课语言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15:rFonts xmlns:ns15="http://schemas.openxmlformats.org/wordprocessingml/2006/main" ns15:eastAsia="PingFang SC"/>
                        </a:rPr>
                        <a:t>English with Chinese annotations  英文主讲、中文注释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16:rFonts xmlns:ns16="http://schemas.openxmlformats.org/wordprocessingml/2006/main" ns16:eastAsia="PingFang SC"/>
                        </a:rPr>
                        <a:t>Class  授课班级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17:rFonts xmlns:ns17="http://schemas.openxmlformats.org/wordprocessingml/2006/main" ns17:eastAsia="PingFang SC"/>
                        </a:rPr>
                        <a:t>International Bilingual Class, 29 students  国际双语班 29 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18:rFonts xmlns:ns18="http://schemas.openxmlformats.org/wordprocessingml/2006/main" ns18:eastAsia="PingFang SC"/>
                        </a:rPr>
                        <a:t>Instructor  授课教师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19:rFonts xmlns:ns19="http://schemas.openxmlformats.org/wordprocessingml/2006/main" ns19:eastAsia="PingFang SC"/>
                        </a:rPr>
                        <a:t>Ren Zheng  任政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Learning Outcomes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By the end of this course, you will be able to: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学完本课程，你将能够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Describe the software development lifecycle and major process models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描述软件开发生命周期与主要过程模型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Elicit and specify software requirements using UML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使用 UML 获取并描述软件需求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Build use case, domain, behavioral, and class-based analysis models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建立用例、领域、行为与类分析模型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Design user interfaces and software architecture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设计用户界面与软件架构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17:rFonts xmlns:ns17="http://schemas.openxmlformats.org/wordprocessingml/2006/main" ns17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Work effectively in a team to deliver the SafeHome project</a:t>
            </a:r>
            <a:r>
              <a:rPr sz="13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   团队协作完成 SafeHome 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Assessment Scheme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考核方案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1463040"/>
                <a:gridCol w="514807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Component  考核环节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Weight  占比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Details  说明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Class Participation &amp; Exercises  课堂参与与练习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10%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Attendance, in-class exercises  出勤、随堂练习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Homework  课后作业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10%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Weekly assignments  每周作业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Course Project (SafeHome)  课程项目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80%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Requirements 需求 20 + Design 设计 20 + Implementation 实现 30 + Defense 答辩 30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16-Week Roadmap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16 周课程地图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423160"/>
            <a:ext cx="1978533" cy="7772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Phase 1  Process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  <ns3:rFonts xmlns:ns3="http://schemas.openxmlformats.org/wordprocessingml/2006/main" ns3:eastAsia="PingFang SC"/>
              </a:rPr>
              <a:t>Week 1-3 第1-3周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8341" y="2423160"/>
            <a:ext cx="1319022" cy="777240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4:rFonts xmlns:ns4="http://schemas.openxmlformats.org/wordprocessingml/2006/main" ns4:eastAsia="PingFang SC"/>
              </a:rPr>
              <a:t>Phase 2  Requirements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  <ns5:rFonts xmlns:ns5="http://schemas.openxmlformats.org/wordprocessingml/2006/main" ns5:eastAsia="PingFang SC"/>
              </a:rPr>
              <a:t>Week 4-5 第4-5周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57091" y="2423160"/>
            <a:ext cx="5935599" cy="777240"/>
          </a:xfrm>
          <a:prstGeom prst="roundRect">
            <a:avLst>
              <a:gd name="adj" fmla="val 10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  <ns6:rFonts xmlns:ns6="http://schemas.openxmlformats.org/wordprocessingml/2006/main" ns6:eastAsia="PingFang SC"/>
              </a:rPr>
              <a:t>Phase 3  Analysis &amp; Modeling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  <ns7:rFonts xmlns:ns7="http://schemas.openxmlformats.org/wordprocessingml/2006/main" ns7:eastAsia="PingFang SC"/>
              </a:rPr>
              <a:t>Week 6-14 第6-14周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02418" y="2423160"/>
            <a:ext cx="1319022" cy="77724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8:rFonts xmlns:ns8="http://schemas.openxmlformats.org/wordprocessingml/2006/main" ns8:eastAsia="PingFang SC"/>
              </a:rPr>
              <a:t>Phase 4  Design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  <ns9:rFonts xmlns:ns9="http://schemas.openxmlformats.org/wordprocessingml/2006/main" ns9:eastAsia="PingFang SC"/>
              </a:rPr>
              <a:t>Week 15-16 第15-16周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ns10:rFonts xmlns:ns10="http://schemas.openxmlformats.org/wordprocessingml/2006/main" ns10:eastAsia="PingFang SC"/>
              </a:rPr>
              <a:t>W01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9591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ns11:rFonts xmlns:ns11="http://schemas.openxmlformats.org/wordprocessingml/2006/main" ns11:eastAsia="PingFang SC"/>
              </a:rPr>
              <a:t>W02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59102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ns12:rFonts xmlns:ns12="http://schemas.openxmlformats.org/wordprocessingml/2006/main" ns12:eastAsia="PingFang SC"/>
              </a:rPr>
              <a:t>W03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8613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ns13:rFonts xmlns:ns13="http://schemas.openxmlformats.org/wordprocessingml/2006/main" ns13:eastAsia="PingFang SC"/>
              </a:rPr>
              <a:t>W04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8124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ns14:rFonts xmlns:ns14="http://schemas.openxmlformats.org/wordprocessingml/2006/main" ns14:eastAsia="PingFang SC"/>
              </a:rPr>
              <a:t>W05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7635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15:rFonts xmlns:ns15="http://schemas.openxmlformats.org/wordprocessingml/2006/main" ns15:eastAsia="PingFang SC"/>
              </a:rPr>
              <a:t>W06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7146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16:rFonts xmlns:ns16="http://schemas.openxmlformats.org/wordprocessingml/2006/main" ns16:eastAsia="PingFang SC"/>
              </a:rPr>
              <a:t>W07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6657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17:rFonts xmlns:ns17="http://schemas.openxmlformats.org/wordprocessingml/2006/main" ns17:eastAsia="PingFang SC"/>
              </a:rPr>
              <a:t>W08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16168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18:rFonts xmlns:ns18="http://schemas.openxmlformats.org/wordprocessingml/2006/main" ns18:eastAsia="PingFang SC"/>
              </a:rPr>
              <a:t>W09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75679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19:rFonts xmlns:ns19="http://schemas.openxmlformats.org/wordprocessingml/2006/main" ns19:eastAsia="PingFang SC"/>
              </a:rPr>
              <a:t>W10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5190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20:rFonts xmlns:ns20="http://schemas.openxmlformats.org/wordprocessingml/2006/main" ns20:eastAsia="PingFang SC"/>
              </a:rPr>
              <a:t>W11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4701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21:rFonts xmlns:ns21="http://schemas.openxmlformats.org/wordprocessingml/2006/main" ns21:eastAsia="PingFang SC"/>
              </a:rPr>
              <a:t>W12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54212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22:rFonts xmlns:ns22="http://schemas.openxmlformats.org/wordprocessingml/2006/main" ns22:eastAsia="PingFang SC"/>
              </a:rPr>
              <a:t>W13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3723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23:rFonts xmlns:ns23="http://schemas.openxmlformats.org/wordprocessingml/2006/main" ns23:eastAsia="PingFang SC"/>
              </a:rPr>
              <a:t>W14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3234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ns24:rFonts xmlns:ns24="http://schemas.openxmlformats.org/wordprocessingml/2006/main" ns24:eastAsia="PingFang SC"/>
              </a:rPr>
              <a:t>W15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32745" y="3520440"/>
            <a:ext cx="659511" cy="457200"/>
          </a:xfrm>
          <a:prstGeom prst="roundRect">
            <a:avLst>
              <a:gd name="adj" fmla="val 18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ns25:rFonts xmlns:ns25="http://schemas.openxmlformats.org/wordprocessingml/2006/main" ns25:eastAsia="PingFang SC"/>
              </a:rPr>
              <a:t>W16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33672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8A8A8A"/>
                </a:solidFill>
                <a:latin typeface="Calibri"/>
                <ns26:rFonts xmlns:ns26="http://schemas.openxmlformats.org/wordprocessingml/2006/main" ns26:eastAsia="PingFang SC"/>
              </a:rPr>
              <a:t>W01 </a:t>
            </a:r>
            <a:r>
              <a:rPr sz="950" b="0" i="0">
                <a:solidFill>
                  <a:srgbClr val="2B2B2B"/>
                </a:solidFill>
                <a:latin typeface="Calibri"/>
                <ns27:rFonts xmlns:ns27="http://schemas.openxmlformats.org/wordprocessingml/2006/main" ns27:eastAsia="PingFang SC"/>
              </a:rPr>
              <a:t>Introduction 导论</a:t>
            </a:r>
            <a:r>
              <a:rPr sz="950" b="0" i="0">
                <a:solidFill>
                  <a:srgbClr val="2B2B2B"/>
                </a:solidFill>
                <a:latin typeface="Calibri"/>
                <ns28:rFonts xmlns:ns28="http://schemas.openxmlformats.org/wordprocessingml/2006/main" ns28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29:rFonts xmlns:ns29="http://schemas.openxmlformats.org/wordprocessingml/2006/main" ns29:eastAsia="PingFang SC"/>
              </a:rPr>
              <a:t>W02 </a:t>
            </a:r>
            <a:r>
              <a:rPr sz="950" b="0" i="0">
                <a:solidFill>
                  <a:srgbClr val="2B2B2B"/>
                </a:solidFill>
                <a:latin typeface="Calibri"/>
                <ns30:rFonts xmlns:ns30="http://schemas.openxmlformats.org/wordprocessingml/2006/main" ns30:eastAsia="PingFang SC"/>
              </a:rPr>
              <a:t>Process Models 过程模型</a:t>
            </a:r>
            <a:r>
              <a:rPr sz="950" b="0" i="0">
                <a:solidFill>
                  <a:srgbClr val="2B2B2B"/>
                </a:solidFill>
                <a:latin typeface="Calibri"/>
                <ns31:rFonts xmlns:ns31="http://schemas.openxmlformats.org/wordprocessingml/2006/main" ns31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32:rFonts xmlns:ns32="http://schemas.openxmlformats.org/wordprocessingml/2006/main" ns32:eastAsia="PingFang SC"/>
              </a:rPr>
              <a:t>W03 </a:t>
            </a:r>
            <a:r>
              <a:rPr sz="950" b="0" i="0">
                <a:solidFill>
                  <a:srgbClr val="2B2B2B"/>
                </a:solidFill>
                <a:latin typeface="Calibri"/>
                <ns33:rFonts xmlns:ns33="http://schemas.openxmlformats.org/wordprocessingml/2006/main" ns33:eastAsia="PingFang SC"/>
              </a:rPr>
              <a:t>Agile 敏捷</a:t>
            </a:r>
            <a:r>
              <a:rPr sz="950" b="0" i="0">
                <a:solidFill>
                  <a:srgbClr val="2B2B2B"/>
                </a:solidFill>
                <a:latin typeface="Calibri"/>
                <ns34:rFonts xmlns:ns34="http://schemas.openxmlformats.org/wordprocessingml/2006/main" ns34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35:rFonts xmlns:ns35="http://schemas.openxmlformats.org/wordprocessingml/2006/main" ns35:eastAsia="PingFang SC"/>
              </a:rPr>
              <a:t>W04 </a:t>
            </a:r>
            <a:r>
              <a:rPr sz="950" b="0" i="0">
                <a:solidFill>
                  <a:srgbClr val="2B2B2B"/>
                </a:solidFill>
                <a:latin typeface="Calibri"/>
                <ns36:rFonts xmlns:ns36="http://schemas.openxmlformats.org/wordprocessingml/2006/main" ns36:eastAsia="PingFang SC"/>
              </a:rPr>
              <a:t>Inception 需求启始</a:t>
            </a:r>
            <a:r>
              <a:rPr sz="950" b="0" i="0">
                <a:solidFill>
                  <a:srgbClr val="2B2B2B"/>
                </a:solidFill>
                <a:latin typeface="Calibri"/>
                <ns37:rFonts xmlns:ns37="http://schemas.openxmlformats.org/wordprocessingml/2006/main" ns37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38:rFonts xmlns:ns38="http://schemas.openxmlformats.org/wordprocessingml/2006/main" ns38:eastAsia="PingFang SC"/>
              </a:rPr>
              <a:t>W05 </a:t>
            </a:r>
            <a:r>
              <a:rPr sz="950" b="0" i="0">
                <a:solidFill>
                  <a:srgbClr val="2B2B2B"/>
                </a:solidFill>
                <a:latin typeface="Calibri"/>
                <ns39:rFonts xmlns:ns39="http://schemas.openxmlformats.org/wordprocessingml/2006/main" ns39:eastAsia="PingFang SC"/>
              </a:rPr>
              <a:t>Gathering 需求收集</a:t>
            </a:r>
            <a:r>
              <a:rPr sz="950" b="0" i="0">
                <a:solidFill>
                  <a:srgbClr val="2B2B2B"/>
                </a:solidFill>
                <a:latin typeface="Calibri"/>
                <ns40:rFonts xmlns:ns40="http://schemas.openxmlformats.org/wordprocessingml/2006/main" ns40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41:rFonts xmlns:ns41="http://schemas.openxmlformats.org/wordprocessingml/2006/main" ns41:eastAsia="PingFang SC"/>
              </a:rPr>
              <a:t>W06 </a:t>
            </a:r>
            <a:r>
              <a:rPr sz="950" b="0" i="0">
                <a:solidFill>
                  <a:srgbClr val="2B2B2B"/>
                </a:solidFill>
                <a:latin typeface="Calibri"/>
                <ns42:rFonts xmlns:ns42="http://schemas.openxmlformats.org/wordprocessingml/2006/main" ns42:eastAsia="PingFang SC"/>
              </a:rPr>
              <a:t>Business Process 业务流程</a:t>
            </a:r>
            <a:r>
              <a:rPr sz="950" b="0" i="0">
                <a:solidFill>
                  <a:srgbClr val="2B2B2B"/>
                </a:solidFill>
                <a:latin typeface="Calibri"/>
                <ns43:rFonts xmlns:ns43="http://schemas.openxmlformats.org/wordprocessingml/2006/main" ns43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44:rFonts xmlns:ns44="http://schemas.openxmlformats.org/wordprocessingml/2006/main" ns44:eastAsia="PingFang SC"/>
              </a:rPr>
              <a:t>W07 </a:t>
            </a:r>
            <a:r>
              <a:rPr sz="950" b="0" i="0">
                <a:solidFill>
                  <a:srgbClr val="2B2B2B"/>
                </a:solidFill>
                <a:latin typeface="Calibri"/>
                <ns45:rFonts xmlns:ns45="http://schemas.openxmlformats.org/wordprocessingml/2006/main" ns45:eastAsia="PingFang SC"/>
              </a:rPr>
              <a:t>Use Case 用例</a:t>
            </a:r>
            <a:r>
              <a:rPr sz="950" b="0" i="0">
                <a:solidFill>
                  <a:srgbClr val="2B2B2B"/>
                </a:solidFill>
                <a:latin typeface="Calibri"/>
                <ns46:rFonts xmlns:ns46="http://schemas.openxmlformats.org/wordprocessingml/2006/main" ns46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47:rFonts xmlns:ns47="http://schemas.openxmlformats.org/wordprocessingml/2006/main" ns47:eastAsia="PingFang SC"/>
              </a:rPr>
              <a:t>W08 </a:t>
            </a:r>
            <a:r>
              <a:rPr sz="950" b="0" i="0">
                <a:solidFill>
                  <a:srgbClr val="2B2B2B"/>
                </a:solidFill>
                <a:latin typeface="Calibri"/>
                <ns48:rFonts xmlns:ns48="http://schemas.openxmlformats.org/wordprocessingml/2006/main" ns48:eastAsia="PingFang SC"/>
              </a:rPr>
              <a:t>UC Details 用例细化</a:t>
            </a:r>
            <a:r>
              <a:rPr sz="950" b="0" i="0">
                <a:solidFill>
                  <a:srgbClr val="2B2B2B"/>
                </a:solidFill>
                <a:latin typeface="Calibri"/>
                <ns49:rFonts xmlns:ns49="http://schemas.openxmlformats.org/wordprocessingml/2006/main" ns49:eastAsia="PingFang SC"/>
              </a:rPr>
              <a:t>  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8A8A8A"/>
                </a:solidFill>
                <a:latin typeface="Calibri"/>
                <ns50:rFonts xmlns:ns50="http://schemas.openxmlformats.org/wordprocessingml/2006/main" ns50:eastAsia="PingFang SC"/>
              </a:rPr>
              <a:t>W09 </a:t>
            </a:r>
            <a:r>
              <a:rPr sz="950" b="0" i="0">
                <a:solidFill>
                  <a:srgbClr val="2B2B2B"/>
                </a:solidFill>
                <a:latin typeface="Calibri"/>
                <ns51:rFonts xmlns:ns51="http://schemas.openxmlformats.org/wordprocessingml/2006/main" ns51:eastAsia="PingFang SC"/>
              </a:rPr>
              <a:t>Domain Model 领域模型</a:t>
            </a:r>
            <a:r>
              <a:rPr sz="950" b="0" i="0">
                <a:solidFill>
                  <a:srgbClr val="2B2B2B"/>
                </a:solidFill>
                <a:latin typeface="Calibri"/>
                <ns52:rFonts xmlns:ns52="http://schemas.openxmlformats.org/wordprocessingml/2006/main" ns52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53:rFonts xmlns:ns53="http://schemas.openxmlformats.org/wordprocessingml/2006/main" ns53:eastAsia="PingFang SC"/>
              </a:rPr>
              <a:t>W10 </a:t>
            </a:r>
            <a:r>
              <a:rPr sz="950" b="0" i="0">
                <a:solidFill>
                  <a:srgbClr val="2B2B2B"/>
                </a:solidFill>
                <a:latin typeface="Calibri"/>
                <ns54:rFonts xmlns:ns54="http://schemas.openxmlformats.org/wordprocessingml/2006/main" ns54:eastAsia="PingFang SC"/>
              </a:rPr>
              <a:t>Domain (cont.)</a:t>
            </a:r>
            <a:r>
              <a:rPr sz="950" b="0" i="0">
                <a:solidFill>
                  <a:srgbClr val="2B2B2B"/>
                </a:solidFill>
                <a:latin typeface="Calibri"/>
                <ns55:rFonts xmlns:ns55="http://schemas.openxmlformats.org/wordprocessingml/2006/main" ns55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56:rFonts xmlns:ns56="http://schemas.openxmlformats.org/wordprocessingml/2006/main" ns56:eastAsia="PingFang SC"/>
              </a:rPr>
              <a:t>W11 </a:t>
            </a:r>
            <a:r>
              <a:rPr sz="950" b="0" i="0">
                <a:solidFill>
                  <a:srgbClr val="2B2B2B"/>
                </a:solidFill>
                <a:latin typeface="Calibri"/>
                <ns57:rFonts xmlns:ns57="http://schemas.openxmlformats.org/wordprocessingml/2006/main" ns57:eastAsia="PingFang SC"/>
              </a:rPr>
              <a:t>Behavior 行为建模</a:t>
            </a:r>
            <a:r>
              <a:rPr sz="950" b="0" i="0">
                <a:solidFill>
                  <a:srgbClr val="2B2B2B"/>
                </a:solidFill>
                <a:latin typeface="Calibri"/>
                <ns58:rFonts xmlns:ns58="http://schemas.openxmlformats.org/wordprocessingml/2006/main" ns58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59:rFonts xmlns:ns59="http://schemas.openxmlformats.org/wordprocessingml/2006/main" ns59:eastAsia="PingFang SC"/>
              </a:rPr>
              <a:t>W12 </a:t>
            </a:r>
            <a:r>
              <a:rPr sz="950" b="0" i="0">
                <a:solidFill>
                  <a:srgbClr val="2B2B2B"/>
                </a:solidFill>
                <a:latin typeface="Calibri"/>
                <ns60:rFonts xmlns:ns60="http://schemas.openxmlformats.org/wordprocessingml/2006/main" ns60:eastAsia="PingFang SC"/>
              </a:rPr>
              <a:t>Behavior (cont.)</a:t>
            </a:r>
            <a:r>
              <a:rPr sz="950" b="0" i="0">
                <a:solidFill>
                  <a:srgbClr val="2B2B2B"/>
                </a:solidFill>
                <a:latin typeface="Calibri"/>
                <ns61:rFonts xmlns:ns61="http://schemas.openxmlformats.org/wordprocessingml/2006/main" ns61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62:rFonts xmlns:ns62="http://schemas.openxmlformats.org/wordprocessingml/2006/main" ns62:eastAsia="PingFang SC"/>
              </a:rPr>
              <a:t>W13 </a:t>
            </a:r>
            <a:r>
              <a:rPr sz="950" b="0" i="0">
                <a:solidFill>
                  <a:srgbClr val="2B2B2B"/>
                </a:solidFill>
                <a:latin typeface="Calibri"/>
                <ns63:rFonts xmlns:ns63="http://schemas.openxmlformats.org/wordprocessingml/2006/main" ns63:eastAsia="PingFang SC"/>
              </a:rPr>
              <a:t>Class Model 类建模</a:t>
            </a:r>
            <a:r>
              <a:rPr sz="950" b="0" i="0">
                <a:solidFill>
                  <a:srgbClr val="2B2B2B"/>
                </a:solidFill>
                <a:latin typeface="Calibri"/>
                <ns64:rFonts xmlns:ns64="http://schemas.openxmlformats.org/wordprocessingml/2006/main" ns64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65:rFonts xmlns:ns65="http://schemas.openxmlformats.org/wordprocessingml/2006/main" ns65:eastAsia="PingFang SC"/>
              </a:rPr>
              <a:t>W14 </a:t>
            </a:r>
            <a:r>
              <a:rPr sz="950" b="0" i="0">
                <a:solidFill>
                  <a:srgbClr val="2B2B2B"/>
                </a:solidFill>
                <a:latin typeface="Calibri"/>
                <ns66:rFonts xmlns:ns66="http://schemas.openxmlformats.org/wordprocessingml/2006/main" ns66:eastAsia="PingFang SC"/>
              </a:rPr>
              <a:t>Class (cont.)</a:t>
            </a:r>
            <a:r>
              <a:rPr sz="950" b="0" i="0">
                <a:solidFill>
                  <a:srgbClr val="2B2B2B"/>
                </a:solidFill>
                <a:latin typeface="Calibri"/>
                <ns67:rFonts xmlns:ns67="http://schemas.openxmlformats.org/wordprocessingml/2006/main" ns67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68:rFonts xmlns:ns68="http://schemas.openxmlformats.org/wordprocessingml/2006/main" ns68:eastAsia="PingFang SC"/>
              </a:rPr>
              <a:t>W15 </a:t>
            </a:r>
            <a:r>
              <a:rPr sz="950" b="0" i="0">
                <a:solidFill>
                  <a:srgbClr val="2B2B2B"/>
                </a:solidFill>
                <a:latin typeface="Calibri"/>
                <ns69:rFonts xmlns:ns69="http://schemas.openxmlformats.org/wordprocessingml/2006/main" ns69:eastAsia="PingFang SC"/>
              </a:rPr>
              <a:t>UI Design 界面设计</a:t>
            </a:r>
            <a:r>
              <a:rPr sz="950" b="0" i="0">
                <a:solidFill>
                  <a:srgbClr val="2B2B2B"/>
                </a:solidFill>
                <a:latin typeface="Calibri"/>
                <ns70:rFonts xmlns:ns70="http://schemas.openxmlformats.org/wordprocessingml/2006/main" ns70:eastAsia="PingFang SC"/>
              </a:rPr>
              <a:t>   </a:t>
            </a:r>
            <a:r>
              <a:rPr sz="950" b="1" i="0">
                <a:solidFill>
                  <a:srgbClr val="8A8A8A"/>
                </a:solidFill>
                <a:latin typeface="Calibri"/>
                <ns71:rFonts xmlns:ns71="http://schemas.openxmlformats.org/wordprocessingml/2006/main" ns71:eastAsia="PingFang SC"/>
              </a:rPr>
              <a:t>W16 </a:t>
            </a:r>
            <a:r>
              <a:rPr sz="950" b="0" i="0">
                <a:solidFill>
                  <a:srgbClr val="2B2B2B"/>
                </a:solidFill>
                <a:latin typeface="Calibri"/>
                <ns72:rFonts xmlns:ns72="http://schemas.openxmlformats.org/wordprocessingml/2006/main" ns72:eastAsia="PingFang SC"/>
              </a:rPr>
              <a:t>Architecture 架构</a:t>
            </a:r>
            <a:r>
              <a:rPr sz="950" b="0" i="0">
                <a:solidFill>
                  <a:srgbClr val="2B2B2B"/>
                </a:solidFill>
                <a:latin typeface="Calibri"/>
                <ns73:rFonts xmlns:ns73="http://schemas.openxmlformats.org/wordprocessingml/2006/main" ns73:eastAsia="PingFang SC"/>
              </a:rPr>
              <a:t>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74:rFonts xmlns:ns74="http://schemas.openxmlformats.org/wordprocessingml/2006/main" ns74:eastAsia="PingFang SC"/>
              </a:rPr>
              <a:t>Four phases: Process → Requirements → Modeling → Design  四个阶段：过程 → 需求 → 建模 → 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75:rFonts xmlns:ns75="http://schemas.openxmlformats.org/wordprocessingml/2006/main" ns75:eastAsia="PingFang SC"/>
              </a:rPr>
              <a:t>Software Engineering I · 2026-2027-1 · Ren Zheng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76:rFonts xmlns:ns76="http://schemas.openxmlformats.org/wordprocessingml/2006/main" ns76:eastAsia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Textbooks &amp; References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教材与参考书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789127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Type  类别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Book  书目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Main Textbook  主教材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Pressman &amp; Maxim, Software Engineering: A Practitioner’s Approach, 8th Ed.  软件工程：实践者的方法（第8版）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Project Method  项目方法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Bruegge &amp; Dutoit, Object-Oriented Software Engineering Using UML, Patterns, and Java, 3rd Ed.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Industrial Reference  工业参考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Fogus et al., Software Engineering at Google  谷歌软件工程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Course Resources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教学资源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All materials are shared in the course folder (OneDrive)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全部资料在课程文件夹（OneDrive）中共享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Weekly slides published before each class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每周课件课前发布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Team collaboration on Gitee (code, docs, issues)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团队协作使用 Gitee（代码、文档、问题跟踪）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Folder structure 目录结构: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74B5"/>
                </a:solidFill>
                <a:latin typeface="Calibri"/>
                <ns15:rFonts xmlns:ns15="http://schemas.openxmlformats.org/wordprocessingml/2006/main" ns15:eastAsia="PingFang SC"/>
              </a:rPr>
              <a:t>00-Course Files 课程文件 · 01-Slides 课件 · 02-Teaching Plans 教案 · 03-Books 教材 · 04-Project 项目实践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Course Project: SafeHome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贯穿项目：SafeHome 智能家居安防系统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 smart-home security system — the running case of this course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智能家居安防系统——本课程的贯穿案例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Monitors doors, windows, motion sensors, and cameras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监控门窗、运动传感器与摄像头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Allows remote access via mobile App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支持手机 App 远程访问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Raises alarms and notifies the owner on intrusion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发现入侵时报警并通知业主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Why SafeHome?  Why SafeHome？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    • Medium scale — manageable in one semester  规模适中，一学期可完成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8:rFonts xmlns:ns18="http://schemas.openxmlformats.org/wordprocessingml/2006/main" ns1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    • Requirements evolve — exercises real elicitation  需求可演化，练真实需求获取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0:rFonts xmlns:ns20="http://schemas.openxmlformats.org/wordprocessingml/2006/main" ns2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21:rFonts xmlns:ns21="http://schemas.openxmlformats.org/wordprocessingml/2006/main" ns21:eastAsia="PingFang SC"/>
              </a:rPr>
              <a:t>    • Covers the whole lifecycle: requirements → design → implementation  覆盖完整生命周期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Project Milestones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项目里程碑（占总评 80%）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468880"/>
            <a:ext cx="9966960" cy="3810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2322576"/>
            <a:ext cx="292608" cy="29260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W4-5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37160" y="2834640"/>
            <a:ext cx="2468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Requirements Gathering</a:t>
            </a:r>
            <a:r>
              <a:rPr sz="11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
需求获取</a:t>
            </a:r>
            <a:r>
              <a:rPr sz="1200" b="0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
Practice I
5 pts</a:t>
            </a:r>
          </a:p>
        </p:txBody>
      </p:sp>
      <p:sp>
        <p:nvSpPr>
          <p:cNvPr id="9" name="Oval 8"/>
          <p:cNvSpPr/>
          <p:nvPr/>
        </p:nvSpPr>
        <p:spPr>
          <a:xfrm>
            <a:off x="4273296" y="2322576"/>
            <a:ext cx="292608" cy="29260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664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ns6:rFonts xmlns:ns6="http://schemas.openxmlformats.org/wordprocessingml/2006/main" ns6:eastAsia="PingFang SC"/>
              </a:rPr>
              <a:t>W6-14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5160" y="2834640"/>
            <a:ext cx="2468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Analysis &amp; Modeling</a:t>
            </a:r>
            <a:r>
              <a:rPr sz="110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
建模与设计</a:t>
            </a:r>
            <a:r>
              <a:rPr sz="1200" b="0" i="0">
                <a:solidFill>
                  <a:srgbClr val="1F3864"/>
                </a:solidFill>
                <a:latin typeface="Calibri"/>
                <ns9:rFonts xmlns:ns9="http://schemas.openxmlformats.org/wordprocessingml/2006/main" ns9:eastAsia="PingFang SC"/>
              </a:rPr>
              <a:t>
Practice II
15 pts</a:t>
            </a:r>
          </a:p>
        </p:txBody>
      </p:sp>
      <p:sp>
        <p:nvSpPr>
          <p:cNvPr id="12" name="Oval 11"/>
          <p:cNvSpPr/>
          <p:nvPr/>
        </p:nvSpPr>
        <p:spPr>
          <a:xfrm>
            <a:off x="7595616" y="2322576"/>
            <a:ext cx="292608" cy="292608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896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7A2E"/>
                </a:solidFill>
                <a:latin typeface="Calibri"/>
                <ns10:rFonts xmlns:ns10="http://schemas.openxmlformats.org/wordprocessingml/2006/main" ns10:eastAsia="PingFang SC"/>
              </a:rPr>
              <a:t>W15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480" y="2834640"/>
            <a:ext cx="2468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UI Design</a:t>
            </a:r>
            <a:r>
              <a:rPr sz="11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
界面设计</a:t>
            </a:r>
            <a:r>
              <a:rPr sz="1200" b="0" i="0">
                <a:solidFill>
                  <a:srgbClr val="E87A2E"/>
                </a:solidFill>
                <a:latin typeface="Calibri"/>
                <ns13:rFonts xmlns:ns13="http://schemas.openxmlformats.org/wordprocessingml/2006/main" ns13:eastAsia="PingFang SC"/>
              </a:rPr>
              <a:t>
Interface &amp; flow
1 pt</a:t>
            </a:r>
          </a:p>
        </p:txBody>
      </p:sp>
      <p:sp>
        <p:nvSpPr>
          <p:cNvPr id="15" name="Oval 14"/>
          <p:cNvSpPr/>
          <p:nvPr/>
        </p:nvSpPr>
        <p:spPr>
          <a:xfrm>
            <a:off x="10917936" y="2322576"/>
            <a:ext cx="292608" cy="292608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8E5A"/>
                </a:solidFill>
                <a:latin typeface="Calibri"/>
                <ns14:rFonts xmlns:ns14="http://schemas.openxmlformats.org/wordprocessingml/2006/main" ns14:eastAsia="PingFang SC"/>
              </a:rPr>
              <a:t>W16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834640"/>
            <a:ext cx="2468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Acceptance &amp; Defense</a:t>
            </a:r>
            <a:r>
              <a:rPr sz="11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
验收答辩</a:t>
            </a:r>
            <a:r>
              <a:rPr sz="1200" b="0" i="0">
                <a:solidFill>
                  <a:srgbClr val="3E8E5A"/>
                </a:solidFill>
                <a:latin typeface="Calibri"/>
                <ns17:rFonts xmlns:ns17="http://schemas.openxmlformats.org/wordprocessingml/2006/main" ns17:eastAsia="PingFang SC"/>
              </a:rPr>
              <a:t>
Final demo
+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Practice I: Requirements (5 pts)  →  Practice II: Analysis &amp; Design (15 pts)  →  Final: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Software Engineering I · 2026-2027-1 · Ren Zheng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Teamwork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团队协作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5 teams of 5–6 students — form your team today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5 个小组，每组 5-6 人——今天组建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Roles 角色: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7:rFonts xmlns:ns7="http://schemas.openxmlformats.org/wordprocessingml/2006/main" ns7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8:rFonts xmlns:ns8="http://schemas.openxmlformats.org/wordprocessingml/2006/main" ns8:eastAsia="PingFang SC"/>
              </a:rPr>
              <a:t>    • Project Manager 项目经理 — plan &amp; coordinate  计划与协调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9:rFonts xmlns:ns9="http://schemas.openxmlformats.org/wordprocessingml/2006/main" ns9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    • Requirements Analyst 需求分析师 — elicit &amp; model  需求获取与建模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    • Designer 设计师 — UI &amp; architecture  界面与架构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3:rFonts xmlns:ns13="http://schemas.openxmlformats.org/wordprocessingml/2006/main" ns13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4:rFonts xmlns:ns14="http://schemas.openxmlformats.org/wordprocessingml/2006/main" ns14:eastAsia="PingFang SC"/>
              </a:rPr>
              <a:t>    • Developer 开发者 — implement  编码实现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5:rFonts xmlns:ns15="http://schemas.openxmlformats.org/wordprocessingml/2006/main" ns1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    • Tester 测试员 — verify &amp; validate  测试验证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7:rFonts xmlns:ns17="http://schemas.openxmlformats.org/wordprocessingml/2006/main" ns17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Collaborate on Gitee; hold a short weekly stand-up meeting</a:t>
            </a:r>
            <a:r>
              <a:rPr sz="13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   在 Gitee 协作，每周开简短站会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How to Succeed in This Course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如何学好本课程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Preview the weekly slides before class (they are released early)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课前预习每周课件（会提前发布）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Participate in in-class exercises — learning by doing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积极参与课堂练习——做中学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Push your project forward every week, not just before deadlines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每周推进项目，不要赶截止日期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Ask questions in class, after class, or online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课上、课后或线上随时提问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Use English for deliverables; Chinese annotations help you understand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成果物用英文；中文注释帮助理解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Class Agreement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课堂约定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Attendance is required; please inform the teacher in advance if you cannot come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出勤是必须的；不能来请提前告知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Arrive on time — class starts at the scheduled time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准时上课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Academic integrity: no plagiarism of code or documents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学术诚信：禁止抄袭代码或文档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Phones silent; laptops for course activities only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手机静音；电脑仅用于课堂活动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What is Software?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什么是软件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Software is more than just programs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软件不只是程序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Software Is Everywhere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软件无处不在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Your smartphone: messaging, maps, payments  社交、地图、支付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Banking: ATMs, online banking, trading systems  ATM、网银、交易系统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Healthcare: hospital information systems, medical devices  医院信息系统、医疗设备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Transportation: flight control, navigation  航班控制、导航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Automotive: engine control, infotainment  发动机控制、车载娱乐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Smart home: sensors, security, voice assistants  智能家居：传感、安防、语音助手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14:rFonts xmlns:ns14="http://schemas.openxmlformats.org/wordprocessingml/2006/main" ns14:eastAsia="PingFang SC"/>
              </a:rPr>
              <a:t>▸ </a:t>
            </a:r>
            <a:r>
              <a:rPr sz="13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How many software systems did you touch today?  你今天用了多少个软件系统？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What Is Software?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软件的定义（Pressman）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Software is (1) instructions that provide desired features, function, and performance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软件是（1）提供所需功能与性能的指令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(2) data structures that enable the programs to manipulate information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（2）使程序能够处理信息的数据结构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(3) documentation that describes the operation and use of the programs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（3）描述程序运行与使用的文档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In short: Software = programs + data + documentation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简言之：软件 = 程序 + 数据 + 文档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Software is both a product (delivered to users) and a vehicle (runs on hardware)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软件既是产品（交付用户），也是载体（运行于硬件）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Characteristics of Software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软件的特性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Software is engineered or developed, not manufactured in the classical sense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软件是“开发”出来的，而非“制造”出来的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Software does not “wear out”, but it can “deteriorate” due to changes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软件不会“磨损”，但会因变更而“退化”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Software is a logical system, not a physical one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软件是逻辑系统，而非物理系统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Most software is custom-built, not assembled from ready-made components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多数软件是定制开发，而非组件装配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Software is highly complex and expensive to develop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软件高度复杂，开发成本高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7:rFonts xmlns:ns17="http://schemas.openxmlformats.org/wordprocessingml/2006/main" ns17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Software changes frequently as requirements and environments evolve</a:t>
            </a:r>
            <a:r>
              <a:rPr sz="13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   软件随需求与环境演化而频繁变更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Software vs Hardware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软件与硬件对比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1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4023360"/>
                <a:gridCol w="405079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Aspect  维度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Hardware  硬件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Software  软件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Wear  磨损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Physically wears out  物理磨损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No physical wear  无物理磨损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Failure  失效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Random physical failures  随机物理失效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Systematic design defects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  系统性设计缺陷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Fix  修复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Replace the part  更换部件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4:rFonts xmlns:ns14="http://schemas.openxmlformats.org/wordprocessingml/2006/main" ns14:eastAsia="PingFang SC"/>
                        </a:rPr>
                        <a:t>Fix / upgrade the design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15:rFonts xmlns:ns15="http://schemas.openxmlformats.org/wordprocessingml/2006/main" ns15:eastAsia="PingFang SC"/>
                        </a:rPr>
                        <a:t>  修复/升级设计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6:rFonts xmlns:ns16="http://schemas.openxmlformats.org/wordprocessingml/2006/main" ns16:eastAsia="PingFang SC"/>
                        </a:rPr>
                        <a:t>Manufacturing  生产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7:rFonts xmlns:ns17="http://schemas.openxmlformats.org/wordprocessingml/2006/main" ns17:eastAsia="PingFang SC"/>
                        </a:rPr>
                        <a:t>Mass manufacturing  批量制造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8:rFonts xmlns:ns18="http://schemas.openxmlformats.org/wordprocessingml/2006/main" ns18:eastAsia="PingFang SC"/>
                        </a:rPr>
                        <a:t>Develop once, copy freely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19:rFonts xmlns:ns19="http://schemas.openxmlformats.org/wordprocessingml/2006/main" ns19:eastAsia="PingFang SC"/>
                        </a:rPr>
                        <a:t>  开发一次，无限复制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0:rFonts xmlns:ns20="http://schemas.openxmlformats.org/wordprocessingml/2006/main" ns20:eastAsia="PingFang SC"/>
                        </a:rPr>
                        <a:t>Aging  老化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1:rFonts xmlns:ns21="http://schemas.openxmlformats.org/wordprocessingml/2006/main" ns21:eastAsia="PingFang SC"/>
                        </a:rPr>
                        <a:t>Ages with use  随使用老化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2:rFonts xmlns:ns22="http://schemas.openxmlformats.org/wordprocessingml/2006/main" ns22:eastAsia="PingFang SC"/>
                        </a:rPr>
                        <a:t>Deteriorates with change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23:rFonts xmlns:ns23="http://schemas.openxmlformats.org/wordprocessingml/2006/main" ns23:eastAsia="PingFang SC"/>
                        </a:rPr>
                        <a:t>  随变更退化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5:rFonts xmlns:ns25="http://schemas.openxmlformats.org/wordprocessingml/2006/main" ns25:eastAsia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Categories of Software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软件的分类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System software  系统软件 — operating systems, compilers, drivers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操作系统、编译器、驱动程序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Application software  应用软件 — office suites, business applications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办公套件、业务应用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Engineering / scientific software  工程与科学软件 — CAD, simulation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CAD、仿真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Embedded software  嵌入式软件 — cars, home appliances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汽车、家电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Product-line software  产品线软件 — packaged products for many users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面向大量用户的打包产品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7:rFonts xmlns:ns17="http://schemas.openxmlformats.org/wordprocessingml/2006/main" ns17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Web applications (WebApps)  网络应用 — browser-based services</a:t>
            </a:r>
            <a:r>
              <a:rPr sz="13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   基于浏览器的服务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20:rFonts xmlns:ns20="http://schemas.openxmlformats.org/wordprocessingml/2006/main" ns20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21:rFonts xmlns:ns21="http://schemas.openxmlformats.org/wordprocessingml/2006/main" ns21:eastAsia="PingFang SC"/>
              </a:rPr>
              <a:t>AI software  人工智能软件 — machine learning, NLP, robotics</a:t>
            </a:r>
            <a:r>
              <a:rPr sz="130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   机器学习、自然语言处理、机器人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Legacy Software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遗留软件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Legacy software: old programs that remain critical to an organization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遗留软件：仍对组织至关重要的老程序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More than 80% of IT budgets are spent on maintenance, not new development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超过 80% 的 IT 预算花在维护上，而非新开发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Typical problems 典型困境: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Outdated technology and platforms  技术与平台过时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Original developers have left  原始开发者已离职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    • Poor or missing documentation  文档缺失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    • Replacing it is risky and expensive  替换风险高、成本大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8:rFonts xmlns:ns18="http://schemas.openxmlformats.org/wordprocessingml/2006/main" ns1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Reality: legacy systems must evolve, not be abandoned</a:t>
            </a:r>
            <a:r>
              <a:rPr sz="13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   现实：遗留系统必须持续演化，而不是被抛弃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Software Evolution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软件演化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Software must change to remain useful in a changing world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软件必须不断变化才能在变化的世界中保持有用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Four types of maintenance 四类维护活动: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7:rFonts xmlns:ns7="http://schemas.openxmlformats.org/wordprocessingml/2006/main" ns7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8:rFonts xmlns:ns8="http://schemas.openxmlformats.org/wordprocessingml/2006/main" ns8:eastAsia="PingFang SC"/>
              </a:rPr>
              <a:t>    • Corrective 修正性 — fix defects  修复缺陷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9:rFonts xmlns:ns9="http://schemas.openxmlformats.org/wordprocessingml/2006/main" ns9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    • Adaptive 适应性 — adapt to new environments  适应新环境（新OS、新硬件）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    • Perfective 完善性 — add features, improve quality  增加功能、改进质量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3:rFonts xmlns:ns13="http://schemas.openxmlformats.org/wordprocessingml/2006/main" ns13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4:rFonts xmlns:ns14="http://schemas.openxmlformats.org/wordprocessingml/2006/main" ns14:eastAsia="PingFang SC"/>
              </a:rPr>
              <a:t>    • Preventive 预防性 — prevent future problems  预防未来问题（重构、文档更新）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Part B Summary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小结：什么是软件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Software = instructions + data structures + documentation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软件 = 指令 + 数据结构 + 文档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Software is a logical product that is developed, not manufactured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软件是逻辑产品，靠开发而非制造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It never wears out, but deteriorates with change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它不会磨损，但会随变更退化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Software ranges from system to AI applications, and legacy systems dominate budgets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软件从系统软件到AI应用；遗留系统消耗大部分预算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  <ns14:rFonts xmlns:ns14="http://schemas.openxmlformats.org/wordprocessingml/2006/main" ns14:eastAsia="PingFang SC"/>
              </a:rPr>
              <a:t>Key Takeaway 核心要点: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Software is a product AND a vehicle — understanding its nature explains why engineering matters.  软件既是产品也是载体——理解其本质，就理解了为什么需要工程化。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What is Software Engineering?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什么是软件工程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Turning programming into an engineering discipline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把编程变成一门工程学科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Software Crisis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软件危机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1968 NATO Conference, Garmisch, Germany — the term “software engineering” was coined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1968年北约会议（德国加尔米施）——“软件工程”一词诞生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Symptoms of the crisis 危机的表现: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7:rFonts xmlns:ns7="http://schemas.openxmlformats.org/wordprocessingml/2006/main" ns7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8:rFonts xmlns:ns8="http://schemas.openxmlformats.org/wordprocessingml/2006/main" ns8:eastAsia="PingFang SC"/>
              </a:rPr>
              <a:t>    • Projects over budget and behind schedule  项目超预算、超期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9:rFonts xmlns:ns9="http://schemas.openxmlformats.org/wordprocessingml/2006/main" ns9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    • Software does not meet user needs  软件不满足用户需求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    • Poor quality with many defects  质量差、缺陷多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3:rFonts xmlns:ns13="http://schemas.openxmlformats.org/wordprocessingml/2006/main" ns13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4:rFonts xmlns:ns14="http://schemas.openxmlformats.org/wordprocessingml/2006/main" ns14:eastAsia="PingFang SC"/>
              </a:rPr>
              <a:t>    • Maintenance consumes most resources  维护消耗大部分资源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5:rFonts xmlns:ns15="http://schemas.openxmlformats.org/wordprocessingml/2006/main" ns15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Today software is everywhere — the crisis persists in new forms (security, scale, AI)</a:t>
            </a:r>
            <a:r>
              <a:rPr sz="13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   今天软件无处不在——危机以新形式存在（安全、规模、AI）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Why Software Engineering?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为什么需要软件工程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Individual programming works only for small problems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个人编程只适用于小问题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Real-world systems require teams of engineers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真实系统需要工程师团队协作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Engineering means: systematic, disciplined, and measurable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工程意味着：系统化、规范化、可度量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Software engineering reduces the risk of project failure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软件工程降低项目失败风险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It provides principles, methods, and tools to manage complexity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它提供管理复杂性的原则、方法与工具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IEEE Definition of Software Engineering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软件工程的 IEEE 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(1) The application of a systematic, disciplined, quantifiable approach to the development, operation, and maintenance of software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（1）将系统化、规范化、可度量的方法应用于软件的开发、运行与维护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(2) The study of approaches as in (1)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（2）对上述方法的研究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Three key words 三个关键词: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Systematic 系统化 — follow a defined process  遵循定义好的过程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Disciplined 规范化 — follow standards and good practice  遵循标准与最佳实践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    • Quantifiable 可度量 — measure progress and quality  度量进度与质量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SE vs Programming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软件工程 vs 编程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3931920"/>
                <a:gridCol w="459943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Aspect  维度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Programming  编程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Software Engineering  软件工程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Scope  范围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Writing code  编写代码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Whole lifecycle  整个生命周期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Team  团队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Individual  个人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Team with roles  分工明确的团队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Quality  质量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“It works on my machine”  能跑就行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Systematic quality assurance  系统化质量保证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4:rFonts xmlns:ns14="http://schemas.openxmlformats.org/wordprocessingml/2006/main" ns14:eastAsia="PingFang SC"/>
                        </a:rPr>
                        <a:t>Time horizon  时间视角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5:rFonts xmlns:ns15="http://schemas.openxmlformats.org/wordprocessingml/2006/main" ns15:eastAsia="PingFang SC"/>
                        </a:rPr>
                        <a:t>Short task  短期任务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6:rFonts xmlns:ns16="http://schemas.openxmlformats.org/wordprocessingml/2006/main" ns16:eastAsia="PingFang SC"/>
                        </a:rPr>
                        <a:t>Long-term maintenance  长期维护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7:rFonts xmlns:ns17="http://schemas.openxmlformats.org/wordprocessingml/2006/main" ns17:eastAsia="PingFang SC"/>
                        </a:rPr>
                        <a:t>Process  过程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8:rFonts xmlns:ns18="http://schemas.openxmlformats.org/wordprocessingml/2006/main" ns18:eastAsia="PingFang SC"/>
                        </a:rPr>
                        <a:t>Ad hoc  随意进行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9:rFonts xmlns:ns19="http://schemas.openxmlformats.org/wordprocessingml/2006/main" ns19:eastAsia="PingFang SC"/>
                        </a:rPr>
                        <a:t>Defined, repeatable process  定义清晰、可重复的过程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Three Essences of Software Engineering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软件工程三要素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DCE8F4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Process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3:rFonts xmlns:ns3="http://schemas.openxmlformats.org/wordprocessingml/2006/main" ns3:eastAsia="PingFang SC"/>
              </a:rPr>
              <a:t>过程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600" b="0" i="0">
                <a:solidFill>
                  <a:srgbClr val="2B2B2B"/>
                </a:solidFill>
                <a:latin typeface="Calibri"/>
                <ns4:rFonts xmlns:ns4="http://schemas.openxmlformats.org/wordprocessingml/2006/main" ns4:eastAsia="PingFang SC"/>
              </a:rPr>
              <a:t/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The glue that holds the
software engineering layers
together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6:rFonts xmlns:ns6="http://schemas.openxmlformats.org/wordprocessingml/2006/main" ns6:eastAsia="PingFang SC"/>
              </a:rPr>
              <a:t>活动的框架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DCE8F4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ns7:rFonts xmlns:ns7="http://schemas.openxmlformats.org/wordprocessingml/2006/main" ns7:eastAsia="PingFang SC"/>
              </a:rPr>
              <a:t>Methods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方法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/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Provide the “how-to” for building
software: modeling, design,
coding, testing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构建软件的方法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DCE8F4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ns12:rFonts xmlns:ns12="http://schemas.openxmlformats.org/wordprocessingml/2006/main" ns12:eastAsia="PingFang SC"/>
              </a:rPr>
              <a:t>Tools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工具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600" b="0" i="0">
                <a:solidFill>
                  <a:srgbClr val="2B2B2B"/>
                </a:solidFill>
                <a:latin typeface="Calibri"/>
                <ns14:rFonts xmlns:ns14="http://schemas.openxmlformats.org/wordprocessingml/2006/main" ns14:eastAsia="PingFang SC"/>
              </a:rPr>
              <a:t/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Automate process and
methods: modeling tools,
IDEs, Git, testing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支撑过程与方法的工具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5196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17:rFonts xmlns:ns17="http://schemas.openxmlformats.org/wordprocessingml/2006/main" ns17:eastAsia="PingFang SC"/>
              </a:rPr>
              <a:t>Quality Focus 质量聚焦 — every activity is driven by the pursuit of quality  一切活动以质量为中心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Process + Methods + Tools, driven by Quality Focus  过程 + 方法 + 工具，以质量为中心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Software Engineering I · 2026-2027-1 · Ren Zheng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A Generic Process Model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通用过程模型：五项框架活动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015337" cy="10515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Communication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沟通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54833" y="2468880"/>
            <a:ext cx="201168" cy="5029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56585" y="2194560"/>
            <a:ext cx="2015337" cy="1051560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4:rFonts xmlns:ns4="http://schemas.openxmlformats.org/wordprocessingml/2006/main" ns4:eastAsia="PingFang SC"/>
              </a:rPr>
              <a:t>Planning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6F2"/>
                </a:solidFill>
                <a:latin typeface="Calibri"/>
                <ns5:rFonts xmlns:ns5="http://schemas.openxmlformats.org/wordprocessingml/2006/main" ns5:eastAsia="PingFang SC"/>
              </a:rPr>
              <a:t>策划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71338" y="2468880"/>
            <a:ext cx="201168" cy="5029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3090" y="2194560"/>
            <a:ext cx="2015337" cy="10515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6:rFonts xmlns:ns6="http://schemas.openxmlformats.org/wordprocessingml/2006/main" ns6:eastAsia="PingFang SC"/>
              </a:rPr>
              <a:t>Modeling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6F2"/>
                </a:solidFill>
                <a:latin typeface="Calibri"/>
                <ns7:rFonts xmlns:ns7="http://schemas.openxmlformats.org/wordprocessingml/2006/main" ns7:eastAsia="PingFang SC"/>
              </a:rPr>
              <a:t>建模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87843" y="2468880"/>
            <a:ext cx="201168" cy="5029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89595" y="2194560"/>
            <a:ext cx="2015337" cy="1051560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8:rFonts xmlns:ns8="http://schemas.openxmlformats.org/wordprocessingml/2006/main" ns8:eastAsia="PingFang SC"/>
              </a:rPr>
              <a:t>Construction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6F2"/>
                </a:solidFill>
                <a:latin typeface="Calibri"/>
                <ns9:rFonts xmlns:ns9="http://schemas.openxmlformats.org/wordprocessingml/2006/main" ns9:eastAsia="PingFang SC"/>
              </a:rPr>
              <a:t>构建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04348" y="2468880"/>
            <a:ext cx="201168" cy="5029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6100" y="2194560"/>
            <a:ext cx="2015337" cy="10515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10:rFonts xmlns:ns10="http://schemas.openxmlformats.org/wordprocessingml/2006/main" ns10:eastAsia="PingFang SC"/>
              </a:rPr>
              <a:t>Deployment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6F2"/>
                </a:solidFill>
                <a:latin typeface="Calibri"/>
                <ns11:rFonts xmlns:ns11="http://schemas.openxmlformats.org/wordprocessingml/2006/main" ns11:eastAsia="PingFang SC"/>
              </a:rPr>
              <a:t>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Umbrella activities 贯穿性活动:  </a:t>
            </a:r>
            <a:r>
              <a:rPr sz="13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project tracking 项目跟踪 · risk management 风险管理 · quality assurance 质量保证 · change control 变更控制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These five framework activities are applied iteratively in most process models  在多数过程模型中这五项框架活动迭代执行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Communication → Planning → Modeling → Construction → Deployment  沟通 → 策划 → 建模 → 构建 → 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Methods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软件工程方法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Methods provide the “how-to” for building software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方法提供构建软件的“怎么做”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Requirements modeling  需求建模 — use cases, domain models, behavior, classes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用例、领域模型、行为、类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Design methods  设计方法 — architecture, interfaces, components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架构、界面、组件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Coding practices  编码规范 — standards, review, pair programming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标准、评审、结对编程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Testing strategies  测试策略 — unit, integration, system, acceptance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单元、集成、系统、验收测试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7:rFonts xmlns:ns17="http://schemas.openxmlformats.org/wordprocessingml/2006/main" ns17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Estimation &amp; scheduling  估算与排期 — effort, cost, time</a:t>
            </a:r>
            <a:r>
              <a:rPr sz="13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   工作量、成本、时间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Tools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软件工程工具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Modeling tools  建模工具 — draw.io, StarUML, Enterprise Architect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建模工具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IDEs  集成开发环境 — VS Code, IntelliJ IDEA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集成开发环境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Version control  版本控制 — Git, Gitee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版本控制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Testing tools  测试工具 — JUnit, Selenium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测试工具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Project management  项目管理 — Gitee Issues, Trello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项目管理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7:rFonts xmlns:ns17="http://schemas.openxmlformats.org/wordprocessingml/2006/main" ns17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Tools automate and support the process and methods</a:t>
            </a:r>
            <a:r>
              <a:rPr sz="13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   工具使过程与方法自动化、可支撑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Goals of Software Engineering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软件工程的目标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Deliver high-quality software that satisfies users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交付满足用户的高质量软件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Meet budget and schedule commitments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遵守预算与进度承诺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Build maintainable software — easy to change later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构建可维护的软件——日后易于修改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Manage and reduce complexity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管理与降低复杂性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Reuse existing components and knowledge where possible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尽量复用现有组件与知识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7:rFonts xmlns:ns17="http://schemas.openxmlformats.org/wordprocessingml/2006/main" ns17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Balance trade-offs among cost, schedule, quality, and scope</a:t>
            </a:r>
            <a:r>
              <a:rPr sz="13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   在成本、进度、质量与范围之间权衡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Software Engineering Myths (Management)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软件工程迷思（一）：管理类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Myth: We already have a book of standards — that provides everything we need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迷思：我们已有标准手册，它提供了所需的一切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    Reality: Standards are often not used, not updated, or not enforced  现实：标准常未被使用、更新或执行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7:rFonts xmlns:ns7="http://schemas.openxmlformats.org/wordprocessingml/2006/main" ns7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8:rFonts xmlns:ns8="http://schemas.openxmlformats.org/wordprocessingml/2006/main" ns8:eastAsia="PingFang SC"/>
              </a:rPr>
              <a:t>Myth: If we get behind schedule, we can add more programmers</a:t>
            </a:r>
            <a:r>
              <a:rPr sz="1300" b="0" i="0">
                <a:solidFill>
                  <a:srgbClr val="8A8A8A"/>
                </a:solidFill>
                <a:latin typeface="Calibri"/>
                <ns9:rFonts xmlns:ns9="http://schemas.openxmlformats.org/wordprocessingml/2006/main" ns9:eastAsia="PingFang SC"/>
              </a:rPr>
              <a:t>   迷思：进度落后时，加人就能赶上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Reality: Brooks’ Law — adding manpower to a late project makes it later  现实：布鲁克斯法则——给延期项目加人只会更晚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Myth: A general statement of objectives is enough to begin coding</a:t>
            </a:r>
            <a:r>
              <a:rPr sz="13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   迷思：概要目标陈述足以开始编码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5:rFonts xmlns:ns15="http://schemas.openxmlformats.org/wordprocessingml/2006/main" ns1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    Reality: Ambiguous requirements lead to rework and failure  现实：模糊的需求导致返工与失败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Software Engineering Myths (Customer &amp; Practitioner)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软件工程迷思（二）：客户与开发者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Customer myths 客户类: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    • “Requirements change is trivial” — late changes are very costly  需求变更是小事？后期变更加剧成本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“Software is flexible, so anything can be changed anytime” — flexibility has limits  软件很灵活，随时可改？灵活性有限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Practitioner myths 开发者类: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“Once the program works, the job is done” — maintenance costs more than development  程序能跑就完了？维护成本高于开发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“The only deliverable is the program” — models and documents matter too  唯一交付物是程序？模型与文档同样重要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Part C Summary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小结：什么是软件工程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Software engineering applies systematic, disciplined, quantifiable methods to software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软件工程将系统化、规范化、可度量的方法应用于软件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Three essences: Process + Methods + Tools, driven by quality focus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三要素：过程 + 方法 + 工具，以质量为中心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The generic process has five framework activities: communication, planning, modeling, construction, deployment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通用过程含五项框架活动：沟通、策划、建模、构建、部署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Myths about management, customers, and practitioners lead projects astray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管理、客户、开发者三类迷思会把项目带偏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  <ns14:rFonts xmlns:ns14="http://schemas.openxmlformats.org/wordprocessingml/2006/main" ns14:eastAsia="PingFang SC"/>
              </a:rPr>
              <a:t>Key Takeaway 核心要点: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Software engineering is not about writing code faster — it is about building the right software, with quality, on time and on budget.  软件工程不是更快地写代码，而是高质量、按时、按预算地构建正确的软件。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Class Activities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课堂活动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Let’s apply what we just learned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动手实践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1 — Analyze a Familiar System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练习1：分析一个你熟悉的系统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In your team, pick a system you use every day (WeChat, ATM, ride-hailing app, food delivery...)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5 minutes in teams, then 1-minute share per team  小组讨论5分钟，每组分享1分钟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What category of software is it?  它属于哪类软件？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Where does its complexity come from?  它的复杂性来自哪里？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What could go wrong if it was built without software engineering?  没有软件工程，它可能出什么问题？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Software Engineering I · 2026-2027-1 · Ren Zheng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2 — Three Essences Quiz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练习2：三要素自测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Which of the following are the three essences of software engineering? (Multiple choice)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Think individually for 2 minutes, then vote with your team  独立思考2分钟，小组投票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A. Process 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B. Methods 方法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C. Tools 工具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D. Programming languages 编程语言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E. Hardware platforms 硬件平台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 i="0">
                <a:solidFill>
                  <a:srgbClr val="3E8E5A"/>
                </a:solidFill>
                <a:latin typeface="Calibri"/>
                <ns14:rFonts xmlns:ns14="http://schemas.openxmlformats.org/wordprocessingml/2006/main" ns14:eastAsia="PingFang SC"/>
              </a:rPr>
              <a:t>Answer 答案: </a:t>
            </a:r>
            <a:r>
              <a:rPr sz="14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A, B,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Team Formation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组建项目团队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29 students → 5 teams of 5–6 members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29 人 → 5 组，每组 5-6 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Assign roles: PM, Requirements Analyst, Designer, Developer, Tester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分配角色：项目经理、需求分析师、设计师、开发者、测试员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Create a team name and choose a leader today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今天起好队名并选出组长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Register accounts on Gitee and create your team repository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注册 Gitee 账号并创建团队仓库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Deadline: before next week’s class  截止时间：下节课前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Homework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课后作业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Preview W02: Software Process Models  预习 W02：软件过程模型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Finish Exercise 1 — one-page summary per team  完成练习1——每组一页总结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Set up your team and Gitee repository  组建团队并创建 Gitee 仓库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(Optional) Read Pressman Ch.1  （选读）Pressman 第1章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Questions? Ask now or contact the teacher online  有问题现在提问，或课后线上联系老师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Preview of Next Week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下节预告：软件过程模型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Software Process Models 软件过程模型: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    • Waterfall model  瀑布模型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Incremental model  增量模型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Evolutionary models: prototyping, spiral  演化模型：原型、螺旋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Unified Process  统一过程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Think about it: Which process would fit your SafeHome project?</a:t>
            </a:r>
            <a:r>
              <a:rPr sz="13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   想一想：哪种过程适合你的 SafeHome 项目？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Q &amp; 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Questions &amp; Answers  答疑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0448" y="2743200"/>
            <a:ext cx="457200" cy="457200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4612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Thank You!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谢谢！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DE6F2"/>
                </a:solidFill>
                <a:latin typeface="Calibri"/>
                <ns2:rFonts xmlns:ns2="http://schemas.openxmlformats.org/wordprocessingml/2006/main" ns2:eastAsia="PingFang SC"/>
              </a:rPr>
              <a:t>Next week: Software Process Models  下周：软件过程模型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4D4"/>
                </a:solidFill>
                <a:latin typeface="Calibri"/>
                <ns3:rFonts xmlns:ns3="http://schemas.openxmlformats.org/wordprocessingml/2006/main" ns3:eastAsia="PingFang SC"/>
              </a:rPr>
              <a:t>See you next week!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下周见！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