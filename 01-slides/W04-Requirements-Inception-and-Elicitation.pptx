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64592" cy="2286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2103120"/>
            <a:ext cx="9692640" cy="25400"/>
          </a:xfrm>
          <a:prstGeom prst="rect">
            <a:avLst/>
          </a:prstGeom>
          <a:solidFill>
            <a:srgbClr val="4A6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Requirements Inception &amp; Elicitation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需求启始与获取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Week 4 — Discovering what to build, before building it</a:t>
            </a:r>
            <a:r>
              <a:rPr sz="14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   动手之前，先弄清到底要做什么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120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Software Engineering I · 32 hours · 16 weeks</a:t>
            </a:r>
            <a:r>
              <a:rPr sz="1200" b="0" i="0">
                <a:solidFill>
                  <a:srgbClr val="9FB4D4"/>
                </a:solidFill>
                <a:latin typeface="Calibri"/>
                <ns5:rFonts xmlns:ns5="http://schemas.openxmlformats.org/wordprocessingml/2006/main" ns5:eastAsia="PingFang SC"/>
              </a:rPr>
              <a:t>   软件工程 I · 32 学时 · 16 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6:rFonts xmlns:ns6="http://schemas.openxmlformats.org/wordprocessingml/2006/main" ns6:eastAsia="PingFang SC"/>
              </a:rPr>
              <a:t>International Bilingual Class, 29 students</a:t>
            </a:r>
            <a:r>
              <a:rPr sz="1200" b="0" i="0">
                <a:solidFill>
                  <a:srgbClr val="9FB4D4"/>
                </a:solidFill>
                <a:latin typeface="Calibri"/>
                <ns7:rFonts xmlns:ns7="http://schemas.openxmlformats.org/wordprocessingml/2006/main" ns7:eastAsia="PingFang SC"/>
              </a:rPr>
              <a:t>   国际双语班 29 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8:rFonts xmlns:ns8="http://schemas.openxmlformats.org/wordprocessingml/2006/main" ns8:eastAsia="PingFang SC"/>
              </a:rPr>
              <a:t>Textbook: Pressman, Software Engineering: A Practitioner’s Approach</a:t>
            </a:r>
            <a:r>
              <a:rPr sz="1200" b="0" i="0">
                <a:solidFill>
                  <a:srgbClr val="9FB4D4"/>
                </a:solidFill>
                <a:latin typeface="Calibri"/>
                <ns9:rFonts xmlns:ns9="http://schemas.openxmlformats.org/wordprocessingml/2006/main" ns9:eastAsia="PingFang SC"/>
              </a:rPr>
              <a:t>   教材：Pressman《软件工程：实践者的方法》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Contents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2:rFonts xmlns:ns2="http://schemas.openxmlformats.org/wordprocessingml/2006/main" ns2:eastAsia="PingFang SC"/>
              </a:rPr>
              <a:t>01  </a:t>
            </a:r>
            <a:r>
              <a:rPr sz="18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A. Review &amp; Motivation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回顾与导入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5:rFonts xmlns:ns5="http://schemas.openxmlformats.org/wordprocessingml/2006/main" ns5:eastAsia="PingFang SC"/>
              </a:rPr>
              <a:t>02  </a:t>
            </a:r>
            <a:r>
              <a:rPr sz="18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B. Requirements Engineering Overview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需求工程总览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8:rFonts xmlns:ns8="http://schemas.openxmlformats.org/wordprocessingml/2006/main" ns8:eastAsia="PingFang SC"/>
              </a:rPr>
              <a:t>03  </a:t>
            </a:r>
            <a:r>
              <a:rPr sz="18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Inception — Starting Right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需求启始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1:rFonts xmlns:ns11="http://schemas.openxmlformats.org/wordprocessingml/2006/main" ns11:eastAsia="PingFang SC"/>
              </a:rPr>
              <a:t>04  </a:t>
            </a:r>
            <a:r>
              <a:rPr sz="18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D. Elicitation — Digging Out Real Needs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需求获取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4:rFonts xmlns:ns14="http://schemas.openxmlformats.org/wordprocessingml/2006/main" ns14:eastAsia="PingFang SC"/>
              </a:rPr>
              <a:t>05  </a:t>
            </a:r>
            <a:r>
              <a:rPr sz="18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E. SafeHome Project Kickoff</a:t>
            </a:r>
            <a:r>
              <a:rPr sz="13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   项目启动与分组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7:rFonts xmlns:ns17="http://schemas.openxmlformats.org/wordprocessingml/2006/main" ns17:eastAsia="PingFang SC"/>
              </a:rPr>
              <a:t>06  </a:t>
            </a:r>
            <a:r>
              <a:rPr sz="18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F. Class Activities</a:t>
            </a:r>
            <a:r>
              <a:rPr sz="13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   课堂活动与练习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Review &amp; Motivation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回顾与导入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From process to product — what exactly are we building?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从过程到产品：到底要做什么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Last Week Recap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上节课回顾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Agile Manifesto: 4 values — individuals, working software, collaboration, responding to change  敏捷宣言四价值观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Scrum = 3 roles + 5 events + 3 artifacts; the sprint always yields an Increment  Scrum 框架全景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Product Backlog ordered by value; user story: As a 〈role〉, I want 〈feature〉, so that 〈benefit〉  待办列表与用户故事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Your homework: an initial Product Backlog with 8–10 stories — you will need it TODAY  作业：初始产品待办，今天就要用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The missing piece: WHERE do good requirements come from?  缺的一环：好的需求从哪里来？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Learning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State the six activities of requirements engineering and how they connect  说出需求工程六项活动及其联系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Distinguish functional from non-functional requirements, with SafeHome examples  区分功能与非功能需求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Apply 3+ elicitation techniques: interview, observation, prototyping, workshop …  掌握 3 种以上需求获取技术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Launch your project: form 5 teams and understand the dual-track review mechanism  完成分组并理解双轨评审机制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Why Requirements Are the Costliest Mistake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为什么需求错误最昂贵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Relative cost to fix a requirement error — the later, the costlier (not to scale)  修复需求错误的相对成本：越晚越贵（非等比）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120640"/>
            <a:ext cx="1554480" cy="3200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754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3:rFonts xmlns:ns3="http://schemas.openxmlformats.org/wordprocessingml/2006/main" ns3:eastAsia="PingFang SC"/>
              </a:rPr>
              <a:t>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513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>Requirements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5:rFonts xmlns:ns5="http://schemas.openxmlformats.org/wordprocessingml/2006/main" ns5:eastAsia="PingFang SC"/>
              </a:rPr>
              <a:t>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4572000"/>
            <a:ext cx="1554480" cy="8686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4206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513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Design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4023360"/>
            <a:ext cx="1554480" cy="14173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657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×5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5513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Coding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编码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3108960"/>
            <a:ext cx="1554480" cy="2331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743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×10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5513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Testing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2377440"/>
            <a:ext cx="1554480" cy="306324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7A2E"/>
                </a:solidFill>
                <a:latin typeface="Calibri"/>
                <ns15:rFonts xmlns:ns15="http://schemas.openxmlformats.org/wordprocessingml/2006/main" ns15:eastAsia="PingFang SC"/>
              </a:rPr>
              <a:t>×30+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513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After release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运维期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440680"/>
            <a:ext cx="10149840" cy="190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A requirement error found after release can cost 30× or more to fix — cheapest place to be right is the start  运维期才发现的需求错误代价 30 倍以上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Standish CHAOS: incomplete and changing requirements are the #1 cause of project failure  Standish 报告：需求不清是项目失败首因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Requirements Engineering Overview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需求工程总览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The discipline behind “what the system must do”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“系统该做什么”背后的工程纪律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Requirements Engineering?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什么是需求工程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requirement describes what the system must do, or how well it must do it  需求 = 系统“做什么”与“做多好”的描述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RE = the disciplined process of discovering, refining, documenting, validating and managing requirements  需求工程：有纪律地发现、细化、记录、验证与管理需求的过程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RE is the bridge between the customer’s world and the developer’s world  需求工程是客户世界与开发者世界之间的桥梁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Bridge built badly → right process, wrong product  桥搭歪了：过程再对，产品也是错的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Today’s focus: the first two activities — Inception &amp; Elicitation  本课聚焦前两项：启始与获取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Six Activities of 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需求工程六项活动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1  Inception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3:rFonts xmlns:ns3="http://schemas.openxmlformats.org/wordprocessingml/2006/main" ns3:eastAsia="PingFang SC"/>
              </a:rPr>
              <a:t>启始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>identify the problem 界定问题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670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7A2E"/>
                </a:solidFill>
                <a:latin typeface="Calibri"/>
                <ns5:rFonts xmlns:ns5="http://schemas.openxmlformats.org/wordprocessingml/2006/main" ns5:eastAsia="PingFang SC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1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6:rFonts xmlns:ns6="http://schemas.openxmlformats.org/wordprocessingml/2006/main" ns6:eastAsia="PingFang SC"/>
              </a:rPr>
              <a:t>2  Elicitation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获取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gather needs 收集需求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791" y="2670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7A2E"/>
                </a:solidFill>
                <a:latin typeface="Calibri"/>
                <ns9:rFonts xmlns:ns9="http://schemas.openxmlformats.org/wordprocessingml/2006/main" ns9:eastAsia="PingFang SC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2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0:rFonts xmlns:ns10="http://schemas.openxmlformats.org/wordprocessingml/2006/main" ns10:eastAsia="PingFang SC"/>
              </a:rPr>
              <a:t>3  Elaboration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细化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expand into models 展开建模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2" y="2670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7A2E"/>
                </a:solidFill>
                <a:latin typeface="Calibri"/>
                <ns13:rFonts xmlns:ns13="http://schemas.openxmlformats.org/wordprocessingml/2006/main" ns13:eastAsia="PingFang S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3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4:rFonts xmlns:ns14="http://schemas.openxmlformats.org/wordprocessingml/2006/main" ns14:eastAsia="PingFang SC"/>
              </a:rPr>
              <a:t>4  Negotiation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协商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resolve conflicts 平衡冲突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3253" y="2670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7A2E"/>
                </a:solidFill>
                <a:latin typeface="Calibri"/>
                <ns17:rFonts xmlns:ns17="http://schemas.openxmlformats.org/wordprocessingml/2006/main" ns17:eastAsia="PingFang SC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4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8:rFonts xmlns:ns18="http://schemas.openxmlformats.org/wordprocessingml/2006/main" ns18:eastAsia="PingFang SC"/>
              </a:rPr>
              <a:t>5  Specification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规约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20:rFonts xmlns:ns20="http://schemas.openxmlformats.org/wordprocessingml/2006/main" ns20:eastAsia="PingFang SC"/>
              </a:rPr>
              <a:t>write it down 形成文档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19484" y="267004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7A2E"/>
                </a:solidFill>
                <a:latin typeface="Calibri"/>
                <ns21:rFonts xmlns:ns21="http://schemas.openxmlformats.org/wordprocessingml/2006/main" ns21:eastAsia="PingFang S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35" y="2057400"/>
            <a:ext cx="1572768" cy="1600200"/>
          </a:xfrm>
          <a:prstGeom prst="roundRect">
            <a:avLst>
              <a:gd name="adj" fmla="val 9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22:rFonts xmlns:ns22="http://schemas.openxmlformats.org/wordprocessingml/2006/main" ns22:eastAsia="PingFang SC"/>
              </a:rPr>
              <a:t>6  Validation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验证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B2B2B"/>
                </a:solidFill>
                <a:latin typeface="Calibri"/>
                <ns24:rFonts xmlns:ns24="http://schemas.openxmlformats.org/wordprocessingml/2006/main" ns24:eastAsia="PingFang SC"/>
              </a:rPr>
              <a:t>check it’s right 确认正确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673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87A2E"/>
                </a:solidFill>
                <a:latin typeface="Calibri"/>
                <ns25:rFonts xmlns:ns25="http://schemas.openxmlformats.org/wordprocessingml/2006/main" ns25:eastAsia="PingFang SC"/>
              </a:rPr>
              <a:t>↺  validation findings feed back — RE is iterative, not linear  验证结果回流：需求工程是迭代而非单向流水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10853928" cy="777240"/>
          </a:xfrm>
          <a:prstGeom prst="roundRect">
            <a:avLst>
              <a:gd name="adj" fmla="val 18000"/>
            </a:avLst>
          </a:prstGeom>
          <a:solidFill>
            <a:srgbClr val="EAF3EC"/>
          </a:solidFill>
          <a:ln w="1905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3E8E5A"/>
                </a:solidFill>
                <a:latin typeface="Calibri"/>
                <ns26:rFonts xmlns:ns26="http://schemas.openxmlformats.org/wordprocessingml/2006/main" ns26:eastAsia="PingFang SC"/>
              </a:rPr>
              <a:t>Requirements Management 需求管理 — versioning · tracing · change control, spanning ALL six activities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27:rFonts xmlns:ns27="http://schemas.openxmlformats.org/wordprocessingml/2006/main" ns27:eastAsia="PingFang SC"/>
              </a:rPr>
              <a:t>贯穿全部六项活动：版本管理 · 需求追踪 · 变更控制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28:rFonts xmlns:ns28="http://schemas.openxmlformats.org/wordprocessingml/2006/main" ns28:eastAsia="PingFang SC"/>
              </a:rPr>
              <a:t>This course: TODAY = 1–2 (inception &amp; elicitation) → W05+ = 3–6 (elaboration &amp; beyond)   本课覆盖①②，W05 起进入③–⑥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9:rFonts xmlns:ns29="http://schemas.openxmlformats.org/wordprocessingml/2006/main" ns29:eastAsia="PingFang SC"/>
              </a:rPr>
              <a:t>Pressman Ch.7 — requirements work is a loop with a management backbone  Pressman 第 7 章：需求工作是带管理主干的循环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30:rFonts xmlns:ns30="http://schemas.openxmlformats.org/wordprocessingml/2006/main" ns30:eastAsia="PingFang SC"/>
              </a:rPr>
              <a:t>Software Engineering I · 2026-2027-1 · Ren Zheng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31:rFonts xmlns:ns31="http://schemas.openxmlformats.org/wordprocessingml/2006/main" ns31:eastAsia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Two Kinds of Requirements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需求的两种类型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4800600"/>
                <a:gridCol w="4800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Functional 功能需求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Non-functional 非功能需求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States 定义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What the system does  系统做什么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How well it does it  系统做得有多好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Question 一句话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“What?”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“How well?”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SafeHome ①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Send SMS alerts when a sensor triggers  传感器触发即发短信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Alert delivered within 10 seconds  告警 10 秒内送达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SafeHome ②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View live camera feeds on a phone  手机实时查看画面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Video encrypted at rest  视频存储加密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SafeHome ③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Register and manage up to 20 sensors  注册管理 20 个传感器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99.5% availability  可用率 99.5%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0:rFonts xmlns:ns20="http://schemas.openxmlformats.org/wordprocessingml/2006/main" ns20:eastAsia="PingFang SC"/>
                        </a:rPr>
                        <a:t>If missing 若缺失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1:rFonts xmlns:ns21="http://schemas.openxmlformats.org/wordprocessingml/2006/main" ns21:eastAsia="PingFang SC"/>
                        </a:rPr>
                        <a:t>Feature gaps — obvious fast  功能缺口，很快暴露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2:rFonts xmlns:ns22="http://schemas.openxmlformats.org/wordprocessingml/2006/main" ns22:eastAsia="PingFang SC"/>
                        </a:rPr>
                        <a:t>Quality collapse — obvious late  质量崩塌，后期才炸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Non-functional = Quality Attributes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非功能需求即质量属性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Common families 常见类别: performance 性能 · security 安全 · usability 易用 · reliability 可靠 · maintainability 可维护 · portability 可移植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ISO/IEC 25010 — the standard quality model, 8 product quality characteristics  ISO 25010 标准质量模型：八大产品质量特性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NFRs shape the architecture: a “10 s alert” requirement rules out naive polling designs  非功能需求决定架构走向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The real project risk: hard to state, easy to omit, expensive to retrofit  真正的风险：难表述、易遗漏、后补代价高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Rule: if you cannot measure it, you cannot verify it — “fast” → “95% of queries &lt; 500 ms”  不可度量即不可验证：“快”要写成数字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Stakeholders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利益相关者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Anyone who affects the requirements, or is affected by them  影响需求或被需求影响的所有人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Cast list 角色表: customer 甲方 · end users 终端用户 · managers 管理者 · developers 开发者 · regulators 监管方 · operations 运维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SafeHome: homeowners, family members, security company, monitoring-center operators, installers, police liaison  SafeHome 场景列举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Missing a stakeholder = missing a whole class of requirements  漏掉一个利益相关者，就漏掉一类需求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Classic trap: the buyer is not the user — the nurse, not the doctor, uses the hospital system  经典陷阱：掏钱的往往不是真正用系统的人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Does a GOOD Requirement Look Like?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好需求长什么样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0"/>
                <a:gridCol w="6583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Vague 模糊需求 ✗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Clear &amp; testable 清晰可验证 ✓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“The system should be fast.”  系统要快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“The system shall respond to alarm events within 2 seconds.”  告警 2 秒内响应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“The system must be secure.”  系统要安全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“All video shall be encrypted (AES-256) at rest and in transit.”  视频存储与传输加密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“Users should easily control the system.”  操作要简单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“A first-time user can arm/disarm within 30 s without a manual.”  新用户 30 秒无手册完成布防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Inception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需求启始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Ask the basic questions before writing any code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写代码之前，先问清基本问题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Inception?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什么是需求启始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The starting point of every project: establish the basic problem, scope and feasibility  每个项目的起点：明确基本问题、范围与可行性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Output: a short problem statement everyone agrees on  产出：一份所有人都认可的问题陈述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Inception is deliberately short and cheap — its job is to decide whether to continue  刻意短平快：任务是决定“要不要往下走”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Five basic questions give it structure (next slide)  五个基本问题构成其骨架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 failed inception shows up later as scope creep, or worse, a cancelled project  启始失败的代价：范围蔓延，甚至项目夭折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Five Basic Questions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五个基本问题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965960" cy="2286000"/>
          </a:xfrm>
          <a:prstGeom prst="roundRect">
            <a:avLst>
              <a:gd name="adj" fmla="val 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Who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谁需要？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4:rFonts xmlns:ns4="http://schemas.openxmlformats.org/wordprocessingml/2006/main" ns4:eastAsia="PingFang SC"/>
              </a:rPr>
              <a:t>stakeholders &amp; users 利益相关者与用户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1216" y="2148840"/>
            <a:ext cx="1965960" cy="2286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ns5:rFonts xmlns:ns5="http://schemas.openxmlformats.org/wordprocessingml/2006/main" ns5:eastAsia="PingFang SC"/>
              </a:rPr>
              <a:t>What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BDD0E8"/>
                </a:solidFill>
                <a:latin typeface="Calibri"/>
                <ns6:rFonts xmlns:ns6="http://schemas.openxmlformats.org/wordprocessingml/2006/main" ns6:eastAsia="PingFang SC"/>
              </a:rPr>
              <a:t>要什么？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7:rFonts xmlns:ns7="http://schemas.openxmlformats.org/wordprocessingml/2006/main" ns7:eastAsia="PingFang SC"/>
              </a:rPr>
              <a:t>functions &amp; qualities 功能与质量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2148840"/>
            <a:ext cx="1965960" cy="2286000"/>
          </a:xfrm>
          <a:prstGeom prst="roundRect">
            <a:avLst>
              <a:gd name="adj" fmla="val 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Why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BDD0E8"/>
                </a:solidFill>
                <a:latin typeface="Calibri"/>
                <ns9:rFonts xmlns:ns9="http://schemas.openxmlformats.org/wordprocessingml/2006/main" ns9:eastAsia="PingFang SC"/>
              </a:rPr>
              <a:t>为何做？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10:rFonts xmlns:ns10="http://schemas.openxmlformats.org/wordprocessingml/2006/main" ns10:eastAsia="PingFang SC"/>
              </a:rPr>
              <a:t>business value 业务价值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33488" y="2148840"/>
            <a:ext cx="1965960" cy="2286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ns11:rFonts xmlns:ns11="http://schemas.openxmlformats.org/wordprocessingml/2006/main" ns11:eastAsia="PingFang SC"/>
              </a:rPr>
              <a:t>When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BDD0E8"/>
                </a:solidFill>
                <a:latin typeface="Calibri"/>
                <ns12:rFonts xmlns:ns12="http://schemas.openxmlformats.org/wordprocessingml/2006/main" ns12:eastAsia="PingFang SC"/>
              </a:rPr>
              <a:t>何时要？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13:rFonts xmlns:ns13="http://schemas.openxmlformats.org/wordprocessingml/2006/main" ns13:eastAsia="PingFang SC"/>
              </a:rPr>
              <a:t>deadlines &amp; phases 时限与阶段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64624" y="2148840"/>
            <a:ext cx="1965960" cy="2286000"/>
          </a:xfrm>
          <a:prstGeom prst="roundRect">
            <a:avLst>
              <a:gd name="adj" fmla="val 8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How much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BDD0E8"/>
                </a:solidFill>
                <a:latin typeface="Calibri"/>
                <ns15:rFonts xmlns:ns15="http://schemas.openxmlformats.org/wordprocessingml/2006/main" ns15:eastAsia="PingFang SC"/>
              </a:rPr>
              <a:t>投多少？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16:rFonts xmlns:ns16="http://schemas.openxmlformats.org/wordprocessingml/2006/main" ns16:eastAsia="PingFang SC"/>
              </a:rPr>
              <a:t>budget · people · effort 预算·人力·投入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17:rFonts xmlns:ns17="http://schemas.openxmlformats.org/wordprocessingml/2006/main" ns17:eastAsia="PingFang SC"/>
              </a:rPr>
              <a:t>Inception: five basic questions BEFORE anything is built  启始阶段：动手之前先答五个基本问题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  <ns18:rFonts xmlns:ns18="http://schemas.openxmlformats.org/wordprocessingml/2006/main" ns18:eastAsia="PingFang SC"/>
              </a:rPr>
              <a:t>Answers stay rough on purpose — one page each is enough  答案刻意粗粒度：每问一页纸足矣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5074920"/>
            <a:ext cx="8229600" cy="685800"/>
          </a:xfrm>
          <a:prstGeom prst="roundRect">
            <a:avLst>
              <a:gd name="adj" fmla="val 18000"/>
            </a:avLst>
          </a:prstGeom>
          <a:solidFill>
            <a:srgbClr val="FDF0E4"/>
          </a:solidFill>
          <a:ln w="15875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B05A1A"/>
                </a:solidFill>
                <a:latin typeface="Calibri"/>
                <ns19:rFonts xmlns:ns19="http://schemas.openxmlformats.org/wordprocessingml/2006/main" ns19:eastAsia="PingFang SC"/>
              </a:rPr>
              <a:t>If you cannot answer all five — the project is not ready to start  五问答不全，项目就不该启动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Who · What · Why · When · How much — the inception checklist  启始检查清单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Software Engineering I · 2026-2027-1 · Ren Zheng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SafeHome: Answering the Five Questions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案例演示：SafeHome 五问作答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Who — homeowners and tenants of small homes/apartments; a security service company  小型住宅的房主与租户；安防服务公司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What — a system to sense, arm/disarm, alert and view the home remotely  感知、布防撤防、告警、远程查看的系统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Why — peace of mind at a fraction of commercial monitoring cost  比商用监控低得多的成本换取安心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When — a working prototype demonstrated at Week 16  第 16 周演示可运行原型（本课程！）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How much — 5–6 students × 12 weeks, open-source stack, no hardware budget  5–6 人 × 12 周，开源技术栈，零硬件预算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Defining Scope: the Context Diagram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定义范围：语境图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4840" y="315468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SafeHome System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住宅安防系统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the system boundary 系统边界之内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319272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Sensors &amp; Cameras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传感器与摄像头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22225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3E8E5A"/>
                </a:solidFill>
                <a:latin typeface="Calibri"/>
                <ns7:rFonts xmlns:ns7="http://schemas.openxmlformats.org/wordprocessingml/2006/main" ns7:eastAsia="PingFang SC"/>
              </a:rPr>
              <a:t>Homeowner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房主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319272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22225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E87A2E"/>
                </a:solidFill>
                <a:latin typeface="Calibri"/>
                <ns9:rFonts xmlns:ns9="http://schemas.openxmlformats.org/wordprocessingml/2006/main" ns9:eastAsia="PingFang SC"/>
              </a:rPr>
              <a:t>Monitoring Center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监控中心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49377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Police / Emergency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警方 / 应急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3776472"/>
            <a:ext cx="731520" cy="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08960" y="345643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sensor events 传感事件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560320"/>
            <a:ext cx="0" cy="59436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63640" y="263347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Calibri"/>
                <ns14:rFonts xmlns:ns14="http://schemas.openxmlformats.org/wordprocessingml/2006/main" ns14:eastAsia="PingFang SC"/>
              </a:rPr>
              <a:t>arm / disarm · live view  布防撤防·实时查看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80" y="3776472"/>
            <a:ext cx="1005840" cy="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43800" y="345643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alerts 告警 ⇄ dispatch 派单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389120"/>
            <a:ext cx="0" cy="54864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446227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emergency dispatch request  应急派遣请求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A context diagram fixes the boundary: what is IN the system, what stays OUTSIDE  语境图划定边界：系统之内做什么，之外交给谁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Everything outside the boundary is an interface, not your job  边界之外的都是接口，不是你系统的职责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Software Engineering I · 2026-2027-1 · Ren Zheng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Feasibility Quick Check — and Pitfalls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可行性速判与常见陷阱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Five dimensions 五维速判: Technical 做得出? · Economic 划算? · Operational 有人用? · Legal 合规? · Schedule 来得及?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Pitfall 1 — scope creep 范围蔓延: “just one more feature” until collapse  “再加一个小功能”直到崩溃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Pitfall 2 — premature design 过早设计: solving HOW before agreeing WHAT  还没共识“做什么”就开始争论“怎么做”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Pitfall 3 — solutions dressed as requirements 把方案当需求: “we need a Redis cache” is not a requirement  技术选型不是需求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Inception outputs 产出物: problem statement + context diagram + scope baseline  问题陈述 + 语境图 + 范围基线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Elicitation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需求获取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Techniques to surface the real needs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挖出真实需求的技术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Makes Elicitation Hard?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获取为什么难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The core difficulty: users “don’t know what they don’t know”  核心难点：用户“不知道自己不知道”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What people SAY ≠ what they DO ≠ what they NEED  说出来的 ≠ 实际做的 ≠ 真正需要的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Elicitation = applying deliberate techniques to surface real needs  需求获取：用刻意设计的技巧挖出真实需求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Requirements originate from four sources 需求四个来源: stakeholders 利益相关者 · documents 文档 · domain knowledge 领域知识 · the business case 业务背景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No single technique is enough — ASK, WATCH and DO must be combined  单一技术永远不够，问看做必须组合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Elicitation Toolbox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获取技术全景：问·看·做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640080"/>
          </a:xfrm>
          <a:prstGeom prst="roundRect">
            <a:avLst>
              <a:gd name="adj" fmla="val 16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ASK  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3:rFonts xmlns:ns3="http://schemas.openxmlformats.org/wordprocessingml/2006/main" ns3:eastAsia="PingFang SC"/>
              </a:rPr>
              <a:t>Interview 访谈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guided conversation, one-on-one  一对一引导式对话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5:rFonts xmlns:ns5="http://schemas.openxmlformats.org/wordprocessingml/2006/main" ns5:eastAsia="PingFang SC"/>
              </a:rPr>
              <a:t>Questionnaire 问卷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confirm at scale  大样本验证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640080"/>
          </a:xfrm>
          <a:prstGeom prst="roundRect">
            <a:avLst>
              <a:gd name="adj" fmla="val 16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7:rFonts xmlns:ns7="http://schemas.openxmlformats.org/wordprocessingml/2006/main" ns7:eastAsia="PingFang SC"/>
              </a:rPr>
              <a:t>WATCH  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60604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8:rFonts xmlns:ns8="http://schemas.openxmlformats.org/wordprocessingml/2006/main" ns8:eastAsia="PingFang SC"/>
              </a:rPr>
              <a:t>Observation 观察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9:rFonts xmlns:ns9="http://schemas.openxmlformats.org/wordprocessingml/2006/main" ns9:eastAsia="PingFang SC"/>
              </a:rPr>
              <a:t>real behavior in context  真实环境中的实际行为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56616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10:rFonts xmlns:ns10="http://schemas.openxmlformats.org/wordprocessingml/2006/main" ns10:eastAsia="PingFang SC"/>
              </a:rPr>
              <a:t>Document analysis 文档考古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mine forms, manuals, logs  现有表单/手册/日志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383280" cy="640080"/>
          </a:xfrm>
          <a:prstGeom prst="roundRect">
            <a:avLst>
              <a:gd name="adj" fmla="val 16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12:rFonts xmlns:ns12="http://schemas.openxmlformats.org/wordprocessingml/2006/main" ns12:eastAsia="PingFang SC"/>
              </a:rPr>
              <a:t>DO  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0604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13:rFonts xmlns:ns13="http://schemas.openxmlformats.org/wordprocessingml/2006/main" ns13:eastAsia="PingFang SC"/>
              </a:rPr>
              <a:t>Prototype 原型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show, don’t tell  画出来再说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56616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15:rFonts xmlns:ns15="http://schemas.openxmlformats.org/wordprocessingml/2006/main" ns15:eastAsia="PingFang SC"/>
              </a:rPr>
              <a:t>Brainstorming 头脑风暴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quantity first  数量优先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526280"/>
            <a:ext cx="33832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17:rFonts xmlns:ns17="http://schemas.openxmlformats.org/wordprocessingml/2006/main" ns17:eastAsia="PingFang SC"/>
              </a:rPr>
              <a:t>Workshop / JAD 工作坊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users + devs in one room  联合工作坊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Combine: ASK + WATCH to discover → DO (prototype / survey) to confirm  组合使用：问+看去发现，做（原型/问卷）去验证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Pick by question type, not by habit  按问题类型选技术，而不是按习惯选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Software Engineering I · 2026-2027-1 · Ren Zheng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Technique 1: The Interview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技术一：访谈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The most common technique — a guided conversation with a purpose  最常用：有目的的引导式对话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Closed questions 封闭式 — fast, specific; use to CONFIRM facts  用于确认事实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Open questions 开放式 — “walk me through your day”; use to EXPLORE  用于探索发现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A good question list 好问题清单: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No leading questions 不诱导: “Don’t you think alerts are too slow?” 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One thing per question 一题一议 · plain language 用客户的语言 · ask “why” until the real need appears 连问为什么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End by reading your notes back and confirming 结束前复述笔记、请对方确认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Interview Clinic: Bad vs Better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访谈实战：正反对照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Poor questions 反面示例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3:rFonts xmlns:ns3="http://schemas.openxmlformats.org/wordprocessingml/2006/main" ns3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>“Don’t you think the current alarm is too slow?”  诱导性问题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“Do you use features A, B, C, D or E?”  一题多问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“Would you like a Kubernetes-based backend?”  技术黑话+推销方案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Interviewer talks 70% of the time  说多听少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Notes taken “later” — memory drift  事后补记，记忆走样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3:rFonts xmlns:ns13="http://schemas.openxmlformats.org/wordprocessingml/2006/main" ns13:eastAsia="PingFang SC"/>
              </a:rPr>
              <a:t>Better questions 正面示例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“Walk me through what you do when you leave home.”  开放式：走一遍流程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“What happened the last time a false alarm went off?”  具体情境：上次误报时发生了什么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“If you could change ONE thing, what would it be?”  排优先级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0:rFonts xmlns:ns20="http://schemas.openxmlformats.org/wordprocessingml/2006/main" ns2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Silence is a tool — wait 5 seconds after an answer  追问后停 5 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2:rFonts xmlns:ns22="http://schemas.openxmlformats.org/wordprocessingml/2006/main" ns2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23:rFonts xmlns:ns23="http://schemas.openxmlformats.org/wordprocessingml/2006/main" ns23:eastAsia="PingFang SC"/>
              </a:rPr>
              <a:t>Close by reading notes back  复述笔记请确认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Technique 2: The Questionnaire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技术二：问卷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Best for: confirming hypotheses across MANY users  适合大样本验证假设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Scales 量表: Likert 1–5, multiple choice, ranking  李克特量表、多选题、排序题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Keep it under 10 questions; pilot it on 2–3 people first  控制在 10 题内，先找 2–3 人试测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Traps 陷阱: response bias 回复偏差 · low response rate 回收率低 · answers without context 答案缺少语境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Rule: questionnaires CONFIRM what interviews discovered — they rarely discover  问卷用于验证而非发现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Technique 3: Observation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技术三：观察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Contextual inquiry 语境调查: watch people work in their real environment  到真实环境里看人干活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 “apprentice” model: you do, I watch and ask  学徒模式：你做我看，边看边问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Reveals the gap between what people SAY and what they DO  揭示“嘴上说”与“实际做”的差距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Cousin technique: document archaeology — mine existing forms, manuals, logs  文档考古：挖掘现有表单、手册与日志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SafeHome: watch how a homeowner actually arms the door at night  观察房主晚上真实的布防动作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Technique 4: Rapid Prototyping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技术四：快速原型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When words fail, show a picture  说不清的时候，就画出来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Paper prototype / wireframe: hours to build, minutes to critique  纸面原型/线框图：几小时做，几分钟评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Throwaway vs evolutionary — be explicit which one it is  一次性原型 vs 演进式原型，先说清楚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Users react to something concrete — feedback quality jumps  面对具体之物，反馈质量立刻提升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Warning: prototype ≠ product; label it as a sketch  原型不是产品——明示这是草图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In this course: wireframes return in W15 (UI design)  本课程 W15 界面设计将再次实践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Technique 5: Brainstorming &amp; Workshops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技术五：头脑风暴与工作坊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Brainstorming rules 头脑风暴规则: no criticism 不批评 · quantity first 数量优先 · wild ideas welcome 欢迎疯狂想法 · build on others 在他人想法上叠加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 facilitator keeps energy and records EVERYTHING  主持人控场并全程记录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JAD (Joint Application Development) 联合应用开发: structured workshops — users + developers in one room, days not months  结构化联合工作坊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JAD outputs: agreed requirements + recorded decisions + open issues  产出：共识需求、决策记录、遗留问题清单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Best fit: many stakeholders with conflicting views who need alignment  最适合利益相关者多、意见分歧大的场景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Scenarios &amp; User Stories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场景与用户故事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scenario tells HOW someone uses the system to achieve a goal  场景 = 某人如何用系统达成目标的故事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User story (recall W03) 用户故事: As a 〈role〉, I want 〈feature〉, so that 〈benefit〉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Scenarios add the flesh: concrete steps, data, exceptions  场景补上血肉：具体步骤、数据与异常分支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Stories flow into the Product Backlog, ordered by value — your W03 homework, reused  故事按价值进入产品待办列表（W03 作业直接复用）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Example 示例: armed + motion detected → homeowner gets SMS within 10 s  布防状态下检测到移动，房主 10 秒内收到短信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Choosing a Technique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获取技术选型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3042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4206240"/>
                <a:gridCol w="246888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Technique 技术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Best for 适用场景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Cost 成本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Sample 样本量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Interview 访谈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deep discovery, complex domains  深度发现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high per person  单人成本高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5–15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Questionnaire 问卷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confirming across many users  大样本验证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low 低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100+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Observation 观察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actual behavior, implicit needs  真实行为与隐性需求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high 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5–10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Prototype 原型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visual &amp; interactive feedback  视觉与交互反馈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0:rFonts xmlns:ns20="http://schemas.openxmlformats.org/wordprocessingml/2006/main" ns20:eastAsia="PingFang SC"/>
                        </a:rPr>
                        <a:t>medium 中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1:rFonts xmlns:ns21="http://schemas.openxmlformats.org/wordprocessingml/2006/main" ns21:eastAsia="PingFang SC"/>
                        </a:rPr>
                        <a:t>5–20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2:rFonts xmlns:ns22="http://schemas.openxmlformats.org/wordprocessingml/2006/main" ns22:eastAsia="PingFang SC"/>
                        </a:rPr>
                        <a:t>Brainstorm / JAD 工作坊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3:rFonts xmlns:ns23="http://schemas.openxmlformats.org/wordprocessingml/2006/main" ns23:eastAsia="PingFang SC"/>
                        </a:rPr>
                        <a:t>alignment, conflicting views  凝聚共识、协调分歧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4:rFonts xmlns:ns24="http://schemas.openxmlformats.org/wordprocessingml/2006/main" ns24:eastAsia="PingFang SC"/>
                        </a:rPr>
                        <a:t>high, one-off 一次性高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i="0">
                          <a:solidFill>
                            <a:srgbClr val="2B2B2B"/>
                          </a:solidFill>
                          <a:latin typeface="Calibri"/>
                          <ns25:rFonts xmlns:ns25="http://schemas.openxmlformats.org/wordprocessingml/2006/main" ns25:eastAsia="PingFang SC"/>
                        </a:rPr>
                        <a:t>6–12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6:rFonts xmlns:ns26="http://schemas.openxmlformats.org/wordprocessingml/2006/main" ns2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7:rFonts xmlns:ns27="http://schemas.openxmlformats.org/wordprocessingml/2006/main" ns27:eastAsia="PingFang S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SafeHome Project Kickoff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SafeHome 项目启动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Teams, tracks, and the 16-week road ahead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分组、双轨机制与 16 周路线图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16-Week Road Map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16 周里程碑时间线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SafeHome project — 16 weeks at a glance  SafeHome 项目 16 周全景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51960"/>
            <a:ext cx="9966960" cy="25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3:rFonts xmlns:ns3="http://schemas.openxmlformats.org/wordprocessingml/2006/main" ns3:eastAsia="PingFang SC"/>
              </a:rPr>
              <a:t>W1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315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883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W2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902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470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5:rFonts xmlns:ns5="http://schemas.openxmlformats.org/wordprocessingml/2006/main" ns5:eastAsia="PingFang SC"/>
              </a:rPr>
              <a:t>W4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3489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057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W6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W8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663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231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W10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7250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18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9:rFonts xmlns:ns9="http://schemas.openxmlformats.org/wordprocessingml/2006/main" ns9:eastAsia="PingFang SC"/>
              </a:rPr>
              <a:t>W12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837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405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W14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64240" y="4277360"/>
            <a:ext cx="15240" cy="10972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W16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24712" y="3063240"/>
            <a:ext cx="1813941" cy="777240"/>
          </a:xfrm>
          <a:prstGeom prst="roundRect">
            <a:avLst>
              <a:gd name="adj" fmla="val 16000"/>
            </a:avLst>
          </a:prstGeom>
          <a:solidFill>
            <a:srgbClr val="9FB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ns12:rFonts xmlns:ns12="http://schemas.openxmlformats.org/wordprocessingml/2006/main" ns12:eastAsia="PingFang SC"/>
              </a:rPr>
              <a:t>Foundations 基础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3517" y="3063240"/>
            <a:ext cx="1191006" cy="777240"/>
          </a:xfrm>
          <a:prstGeom prst="roundRect">
            <a:avLst>
              <a:gd name="adj" fmla="val 16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  <ns13:rFonts xmlns:ns13="http://schemas.openxmlformats.org/wordprocessingml/2006/main" ns13:eastAsia="PingFang SC"/>
              </a:rPr>
              <a:t>Kickoff &amp; Requirements 启动与需求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9387" y="3063240"/>
            <a:ext cx="5551551" cy="77724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Modeling &amp; construction sprints 建模与构建冲刺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5802" y="3063240"/>
            <a:ext cx="568071" cy="777240"/>
          </a:xfrm>
          <a:prstGeom prst="roundRect">
            <a:avLst>
              <a:gd name="adj" fmla="val 16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  <ns15:rFonts xmlns:ns15="http://schemas.openxmlformats.org/wordprocessingml/2006/main" ns15:eastAsia="PingFang SC"/>
              </a:rPr>
              <a:t>Integration 集成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68737" y="3063240"/>
            <a:ext cx="568071" cy="777240"/>
          </a:xfrm>
          <a:prstGeom prst="roundRect">
            <a:avLst>
              <a:gd name="adj" fmla="val 16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  <ns16:rFonts xmlns:ns16="http://schemas.openxmlformats.org/wordprocessingml/2006/main" ns16:eastAsia="PingFang SC"/>
              </a:rPr>
              <a:t>Defense 答辩</a:t>
            </a:r>
          </a:p>
        </p:txBody>
      </p:sp>
      <p:sp>
        <p:nvSpPr>
          <p:cNvPr id="30" name="Diamond 29"/>
          <p:cNvSpPr/>
          <p:nvPr/>
        </p:nvSpPr>
        <p:spPr>
          <a:xfrm>
            <a:off x="3149536" y="3995928"/>
            <a:ext cx="256032" cy="256032"/>
          </a:xfrm>
          <a:prstGeom prst="diamond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7472" y="3977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7A2E"/>
                </a:solidFill>
                <a:latin typeface="Calibri"/>
                <ns17:rFonts xmlns:ns17="http://schemas.openxmlformats.org/wordprocessingml/2006/main" ns17:eastAsia="PingFang SC"/>
              </a:rPr>
              <a:t>TODAY 今天 · 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5980" y="20574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8:rFonts xmlns:ns18="http://schemas.openxmlformats.org/wordprocessingml/2006/main" ns18:eastAsia="PingFang SC"/>
              </a:rPr>
              <a:t>W4–5  Requirement review 需求评审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89020" y="2404872"/>
            <a:ext cx="0" cy="1801368"/>
          </a:xfrm>
          <a:prstGeom prst="line">
            <a:avLst/>
          </a:prstGeom>
          <a:ln w="15875">
            <a:solidFill>
              <a:srgbClr val="E87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961120" y="20574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9:rFonts xmlns:ns19="http://schemas.openxmlformats.org/wordprocessingml/2006/main" ns19:eastAsia="PingFang SC"/>
              </a:rPr>
              <a:t>W16  Final defense &amp; demo 最终答辩演示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52772" y="2404872"/>
            <a:ext cx="0" cy="1801368"/>
          </a:xfrm>
          <a:prstGeom prst="line">
            <a:avLst/>
          </a:prstGeom>
          <a:ln w="15875">
            <a:solidFill>
              <a:srgbClr val="E87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349239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20:rFonts xmlns:ns20="http://schemas.openxmlformats.org/wordprocessingml/2006/main" ns20:eastAsia="PingFang SC"/>
              </a:rPr>
              <a:t>From today’s kickoff to the Week-16 defense: every review is a milestone, every milestone is graded  从今天启动到第 16 周答辩：每次评审都是里程碑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W4 kickoff today — W16 final defense; every phase ends in a graded review  今天启动，第 16 周答辩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Software Engineering I · 2026-2027-1 · Ren Zheng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Team Formation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现场分组与角色分工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29 students → 5 teams of 5–6 people  29 人分为 5 组，每组 5–6 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Rules 组队规则: cross-ability mix 跨能力混编 (coding 编码 / modeling 建模 / docs 文档 / presentation 展示) · voluntary + adjustment 自愿组合、教师调剂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Team roles 角色分工: Team Lead 组长 · Documentation Lead 文档负责人 · Modeling Lead 建模负责人 · Client Liaison 客户联络人 — one person may hold two  一人可兼多角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Register before leaving today: team name + members + roles  今天下课前登记：组名、成员与分工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Teams stay fixed all semester — choose wisely  组建后整学期不变，慎重选择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Dual-Track Requirement &amp; Review Mechanism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双轨需求与评审机制（本课重点）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51960" y="1463040"/>
            <a:ext cx="3657600" cy="6858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29 Students → 5 Teams (5–6 each)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29 人现场分为 5 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084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848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8A8A"/>
                </a:solidFill>
                <a:latin typeface="Calibri"/>
                <ns5:rFonts xmlns:ns5="http://schemas.openxmlformats.org/wordprocessingml/2006/main" ns5:eastAsia="PingFang SC"/>
              </a:rPr>
              <a:t>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5257800" cy="2880360"/>
          </a:xfrm>
          <a:prstGeom prst="roundRect">
            <a:avLst>
              <a:gd name="adj" fmla="val 5000"/>
            </a:avLst>
          </a:prstGeom>
          <a:solidFill>
            <a:srgbClr val="DCE8F4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TRACK A · 3 Teams  三个小组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54680"/>
            <a:ext cx="4800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Requirements 需求来源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8:rFonts xmlns:ns8="http://schemas.openxmlformats.org/wordprocessingml/2006/main" ns8:eastAsia="PingFang SC"/>
              </a:rPr>
              <a:t>Client A — the client 甲方提出真实需求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251960"/>
            <a:ext cx="4800600" cy="1051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8A8A8A"/>
                </a:solidFill>
                <a:latin typeface="Calibri"/>
                <ns9:rFonts xmlns:ns9="http://schemas.openxmlformats.org/wordprocessingml/2006/main" ns9:eastAsia="PingFang SC"/>
              </a:rPr>
              <a:t>Review 评审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0:rFonts xmlns:ns10="http://schemas.openxmlformats.org/wordprocessingml/2006/main" ns10:eastAsia="PingFang SC"/>
              </a:rPr>
              <a:t>Domain Expert (Client A)  +  Technical Expert (Ren Zheng)   领域专家 + 技术专家 · 双评审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06040"/>
            <a:ext cx="5257800" cy="2880360"/>
          </a:xfrm>
          <a:prstGeom prst="roundRect">
            <a:avLst>
              <a:gd name="adj" fmla="val 5000"/>
            </a:avLst>
          </a:prstGeom>
          <a:solidFill>
            <a:srgbClr val="DCE8F4"/>
          </a:solidFill>
          <a:ln w="22225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7A2E"/>
                </a:solidFill>
                <a:latin typeface="Calibri"/>
                <ns11:rFonts xmlns:ns11="http://schemas.openxmlformats.org/wordprocessingml/2006/main" ns11:eastAsia="PingFang SC"/>
              </a:rPr>
              <a:t>TRACK B · 2 Teams  两个小组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154680"/>
            <a:ext cx="4800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Requirements 需求来源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3:rFonts xmlns:ns13="http://schemas.openxmlformats.org/wordprocessingml/2006/main" ns13:eastAsia="PingFang SC"/>
              </a:rPr>
              <a:t>Ren Zheng (instructor)  教师提供 SafeHome 需求包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51960"/>
            <a:ext cx="4800600" cy="105156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Review 评审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5:rFonts xmlns:ns15="http://schemas.openxmlformats.org/wordprocessingml/2006/main" ns15:eastAsia="PingFang SC"/>
              </a:rPr>
              <a:t>Ren Zheng — sole reviewer   教师唯一评审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961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Same deliverables, same grading rubric — only the requirement source and the review panel differ  双轨产出物与评分标准一致，仅需求来源与评审组不同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Track A: real client + dual review · Track B: instructor brief + sole review  双轨并行，标准一致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Track A Teams — Your Tasks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Track A 组的任务（甲方：Client A）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Track A · 3 teams  三个小组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3:rFonts xmlns:ns3="http://schemas.openxmlformats.org/wordprocessingml/2006/main" ns3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>Prepare for the FIRST client meeting  准备与真实甲方的首次沟通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Draft an interview outline: 10–12 questions, mostly open  访谈提纲 10–12 问，以开放式为主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Prepare a meeting-minutes template  准备会议纪要模板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Goal: understand the client’s real problem — not to pitch solutions  目标是听懂问题，不是推销方案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Track B · 2 teams  两个小组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Collect the instructor’s SafeHome requirements brief  领取教师 SafeHome 需求简报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Read it critically: find gaps, conflicts, vague items  批判性阅读：找缺口、冲突与模糊点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Draft clarification questions for the instructor  起草给教师的澄清问题清单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Goal: turn a given brief into CONFIRMED requirements  把给定简报变成确认过的需求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Engineering Startup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工程化起步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Create your team repository TODAY: Gitee or GitHub, named safehome-team〈X〉  今天就建团队仓库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Add a task board: GitHub Projects or Gitee board — columns: To do / Doing / Done  建任务看板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Move your W03 Product Backlog into the repo (issues or board cards)  W03 作业的待办列表直接迁移入库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Commit convention: small, frequent, meaningful messages  提交规范：小步、高频、有意义的提交信息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All semester reviews live in the repo — no repo, no grade  学期评审均以仓库为准：没有仓库就没有成绩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Grading &amp; Milestone Reviews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评分与里程碑评审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The project carries the largest single share of the course grade — details in the course standard  项目是课程成绩中占比最大的单项，详见课程标准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Review points 评审时点: W4–5 Requirements 需求评审 · W6–14 Modeling &amp; construction 建模与构建 · W16 Final defense 最终答辩演示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Each review scores: artifact quality · process · collaboration  每次评审从产出物质量、过程与协作三方面打分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Dual-track fairness: same rubric for both tracks — the client differs, the bar does not  双轨同一评分标准：甲方不同，标准相同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Late or missing milestones hit the grade directly  迟交或缺席里程碑直接影响成绩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Class Activities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课堂活动与练习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Practice the techniques today, not someday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今天就把技术练起来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1 — Functional or Non-functional?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练习1：功能还是非功能？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73152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Classify each SafeHome requirement: Functional (F) or Non-functional (NF)?  判断每条需求属于功能需求还是非功能需求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12848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Individual quick-fire · 4 min  个人快答 · 4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118311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 system shall send an SMS alert when a sensor triggers while armed.  布防时传感器触发即发短信告警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Alerts must reach the homeowner within 10 seconds.  告警须在 10 秒内送达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Homeowners can view live camera feeds on a phone.  房主可手机实时查看画面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Video recordings shall be encrypted at rest.  视频存储须加密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The app shall support one-tap arming.  支持一键布防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The system must be available 99.5% of the time.  全年可用率须达 99.5%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A homeowner can register up to 20 sensors.  房主最多注册 20 个传感器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35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A first-time user can operate the system within 30 seconds.  新用户 30 秒内可上手操作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46320"/>
            <a:ext cx="11183112" cy="105156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20:rFonts xmlns:ns20="http://schemas.openxmlformats.org/wordprocessingml/2006/main" ns20:eastAsia="PingFang SC"/>
              </a:rPr>
              <a:t>Answer 答案: </a:t>
            </a:r>
            <a:r>
              <a:rPr sz="130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F: 1, 3, 5, 7 (what it does). NF: 2 performance 性能, 4 security 安全, 6 reliability 可靠性, 8 usability 易用性 (how well).  功能：1/3/5/7；非功能：2/4/6/8。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2:rFonts xmlns:ns22="http://schemas.openxmlformats.org/wordprocessingml/2006/main" ns22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2 — Requirement Health Check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练习2：需求体检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Rewrite each vague requirement so it becomes clear and testable  把模糊需求改写为清晰可验证的需求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Pairs · 5 min, then share  两人一组 · 5 分钟后分享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“The system should be easy to use.”  系统要易用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“The system must be reliable.”  系统要可靠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“Reports should be generated quickly.”  报表要快速生成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Hint: add who · number · condition — make it measurable  提示：加上对象、数字与条件，使其可度量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2:rFonts xmlns:ns12="http://schemas.openxmlformats.org/wordprocessingml/2006/main" ns12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e.g. easy to use → a first-time user completes arming in &lt; 30 s without a manual; reliable → 99.5% availability while armed; quickly → a one-year report renders in &lt; 5 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3 — Interview Role-play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练习3：访谈角色扮演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Three roles — client / interviewer / note-taker: run a 5-minute mini interview  三人一组（客户/访谈者/记录员）完成 5 分钟迷你访谈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Groups of 3 · 8 min  三人一组 · 8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Track A teams: interview the “homeowner” about daily security habits — practice OPEN questions  Track A 组重点演练客户访谈（开放式提问）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Track B teams: probe the requirements brief — practice CLARIFYING questions  Track B 组演练需求澄清（追问式提问）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Interviewer: listen 70%, ask 30%; note-taker records verbatim quotes  记录员逐句记录原话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Debrief: what did the note-taker catch that the interviewer missed?  反思：记录员听到了哪些访谈者漏掉的信息？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Today’s Summary &amp; Homework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本课小结与作业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 = six activities on a management backbone; today: inception &amp; elicitation  需求工程六活动，本课完成前两项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Requirements come in two kinds — functional (what) &amp; non-functional (how well)  两类需求：做什么 vs 做多好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Elicitation toolbox: ASK / WATCH / DO — combined, never solo  问·看·做三族技术，组合使用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Project launched: 5 teams, dual-track requirements &amp; review, repo first  项目启动：五组双轨，仓库先行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Homework 作业: complete your team’s first requirements elicitation, submit the Elicitation Minutes 【需求获取纪要】 (due next week); preview W05  各组完成首次需求获取并提交纪要；预习 W05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Key Takeaway 核心要点: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Requirements are DISCOVERED, not collected — go talk to real people.  需求是“挖”出来的，不是“抄”出来的。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2743200"/>
            <a:ext cx="457200" cy="45720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Thank You!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谢谢！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DE6F2"/>
                </a:solidFill>
                <a:latin typeface="Calibri"/>
                <ns2:rFonts xmlns:ns2="http://schemas.openxmlformats.org/wordprocessingml/2006/main" ns2:eastAsia="PingFang SC"/>
              </a:rPr>
              <a:t>Next week: Requirements Gathering &amp; Practice I — elicitation in action, first look at use cases  下周：需求收集实战 I——完整获取演练与用例初识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4D4"/>
                </a:solidFill>
                <a:latin typeface="Calibri"/>
                <ns3:rFonts xmlns:ns3="http://schemas.openxmlformats.org/wordprocessingml/2006/main" ns3:eastAsia="PingFang SC"/>
              </a:rPr>
              <a:t>See you next week!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下周见！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