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164592" cy="228600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34440" y="2103120"/>
            <a:ext cx="9692640" cy="25400"/>
          </a:xfrm>
          <a:prstGeom prst="rect">
            <a:avLst/>
          </a:prstGeom>
          <a:solidFill>
            <a:srgbClr val="4A6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  <ns0:rFonts xmlns:ns0="http://schemas.openxmlformats.org/wordprocessingml/2006/main" ns0:eastAsia="PingFang SC"/>
              </a:rPr>
              <a:t>Agile Development &amp; Scrum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DD0E8"/>
                </a:solidFill>
                <a:latin typeface="Calibri"/>
                <ns1:rFonts xmlns:ns1="http://schemas.openxmlformats.org/wordprocessingml/2006/main" ns1:eastAsia="PingFang SC"/>
              </a:rPr>
              <a:t>敏捷开发与 Scrum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37744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Calibri"/>
                <ns2:rFonts xmlns:ns2="http://schemas.openxmlformats.org/wordprocessingml/2006/main" ns2:eastAsia="PingFang SC"/>
              </a:rPr>
              <a:t>Week 3 — Delivering value in a changing world</a:t>
            </a:r>
            <a:r>
              <a:rPr sz="1400" b="0" i="0">
                <a:solidFill>
                  <a:srgbClr val="BDD0E8"/>
                </a:solidFill>
                <a:latin typeface="Calibri"/>
                <ns3:rFonts xmlns:ns3="http://schemas.openxmlformats.org/wordprocessingml/2006/main" ns3:eastAsia="PingFang SC"/>
              </a:rPr>
              <a:t>   在变化的世界中持续交付价值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521208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DDE6F2"/>
                </a:solidFill>
                <a:latin typeface="Calibri"/>
                <ns4:rFonts xmlns:ns4="http://schemas.openxmlformats.org/wordprocessingml/2006/main" ns4:eastAsia="PingFang SC"/>
              </a:rPr>
              <a:t>Software Engineering I · 32 hours · 16 weeks</a:t>
            </a:r>
            <a:r>
              <a:rPr sz="1200" b="0" i="0">
                <a:solidFill>
                  <a:srgbClr val="9FB4D4"/>
                </a:solidFill>
                <a:latin typeface="Calibri"/>
                <ns5:rFonts xmlns:ns5="http://schemas.openxmlformats.org/wordprocessingml/2006/main" ns5:eastAsia="PingFang SC"/>
              </a:rPr>
              <a:t>   软件工程 I · 32 学时 · 16 周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DDE6F2"/>
                </a:solidFill>
                <a:latin typeface="Calibri"/>
                <ns6:rFonts xmlns:ns6="http://schemas.openxmlformats.org/wordprocessingml/2006/main" ns6:eastAsia="PingFang SC"/>
              </a:rPr>
              <a:t>International Bilingual Class, 29 students</a:t>
            </a:r>
            <a:r>
              <a:rPr sz="1200" b="0" i="0">
                <a:solidFill>
                  <a:srgbClr val="9FB4D4"/>
                </a:solidFill>
                <a:latin typeface="Calibri"/>
                <ns7:rFonts xmlns:ns7="http://schemas.openxmlformats.org/wordprocessingml/2006/main" ns7:eastAsia="PingFang SC"/>
              </a:rPr>
              <a:t>   国际双语班 29 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DDE6F2"/>
                </a:solidFill>
                <a:latin typeface="Calibri"/>
                <ns8:rFonts xmlns:ns8="http://schemas.openxmlformats.org/wordprocessingml/2006/main" ns8:eastAsia="PingFang SC"/>
              </a:rPr>
              <a:t>Textbook: Pressman, Software Engineering: A Practitioner’s Approach</a:t>
            </a:r>
            <a:r>
              <a:rPr sz="1200" b="0" i="0">
                <a:solidFill>
                  <a:srgbClr val="9FB4D4"/>
                </a:solidFill>
                <a:latin typeface="Calibri"/>
                <ns9:rFonts xmlns:ns9="http://schemas.openxmlformats.org/wordprocessingml/2006/main" ns9:eastAsia="PingFang SC"/>
              </a:rPr>
              <a:t>   教材：Pressman《软件工程：实践者的方法》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Contents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E87A2E"/>
                </a:solidFill>
                <a:latin typeface="Calibri"/>
                <ns2:rFonts xmlns:ns2="http://schemas.openxmlformats.org/wordprocessingml/2006/main" ns2:eastAsia="PingFang SC"/>
              </a:rPr>
              <a:t>01  </a:t>
            </a:r>
            <a:r>
              <a:rPr sz="18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A. Review &amp; Motivation</a:t>
            </a:r>
            <a:r>
              <a:rPr sz="130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   回顾与导入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E87A2E"/>
                </a:solidFill>
                <a:latin typeface="Calibri"/>
                <ns5:rFonts xmlns:ns5="http://schemas.openxmlformats.org/wordprocessingml/2006/main" ns5:eastAsia="PingFang SC"/>
              </a:rPr>
              <a:t>02  </a:t>
            </a:r>
            <a:r>
              <a:rPr sz="18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B. The Agile Mindset</a:t>
            </a:r>
            <a:r>
              <a:rPr sz="13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   敏捷思想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E87A2E"/>
                </a:solidFill>
                <a:latin typeface="Calibri"/>
                <ns8:rFonts xmlns:ns8="http://schemas.openxmlformats.org/wordprocessingml/2006/main" ns8:eastAsia="PingFang SC"/>
              </a:rPr>
              <a:t>03  </a:t>
            </a:r>
            <a:r>
              <a:rPr sz="18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C. The Scrum Framework</a:t>
            </a:r>
            <a:r>
              <a:rPr sz="13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   Scrum 框架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E87A2E"/>
                </a:solidFill>
                <a:latin typeface="Calibri"/>
                <ns11:rFonts xmlns:ns11="http://schemas.openxmlformats.org/wordprocessingml/2006/main" ns11:eastAsia="PingFang SC"/>
              </a:rPr>
              <a:t>04  </a:t>
            </a:r>
            <a:r>
              <a:rPr sz="180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D. Class Activities</a:t>
            </a:r>
            <a:r>
              <a:rPr sz="13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   课堂活动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64592" cy="173736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7373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8A86B"/>
                </a:solidFill>
                <a:latin typeface="Calibri"/>
                <ns0:rFonts xmlns:ns0="http://schemas.openxmlformats.org/wordprocessingml/2006/main" ns0:eastAsia="PingFang SC"/>
              </a:rP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3172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  <ns1:rFonts xmlns:ns1="http://schemas.openxmlformats.org/wordprocessingml/2006/main" ns1:eastAsia="PingFang SC"/>
              </a:rPr>
              <a:t>Review &amp; Motivation</a:t>
            </a:r>
            <a:r>
              <a:rPr sz="2000" b="0" i="0">
                <a:solidFill>
                  <a:srgbClr val="BDD0E8"/>
                </a:solidFill>
                <a:latin typeface="Calibri"/>
                <ns2:rFonts xmlns:ns2="http://schemas.openxmlformats.org/wordprocessingml/2006/main" ns2:eastAsia="PingFang SC"/>
              </a:rPr>
              <a:t>   回顾与导入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DE6F2"/>
                </a:solidFill>
                <a:latin typeface="Calibri"/>
                <ns3:rFonts xmlns:ns3="http://schemas.openxmlformats.org/wordprocessingml/2006/main" ns3:eastAsia="PingFang SC"/>
              </a:rPr>
              <a:t>Where we left off — and what still hurts</a:t>
            </a:r>
            <a:r>
              <a:rPr sz="12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   回顾上节课，引出敏捷的动因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Last Week Recap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上节课回顾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A software process = framework + umbrella activities  软件过程 = 框架活动 + 伞形活动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Classic models: waterfall, V, incremental, prototyping, spiral, concurrent, RUP  经典模型一览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Choosing a model depends on: requirement certainty, risk, scale, delivery needs  选型取决于需求明确度、风险、规模与交付要求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Open question 遗留问题: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    • What if requirements keep changing and the customer wants results fast?  如果需求持续变化、客户又要快速见效怎么办？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Learning Outcomes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State the 4 values of the Agile Manifesto and the core of the 12 principles  说出敏捷宣言 4 条价值观与 12 条原则的核心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Identify what all agile processes share: adaptability, rapid delivery, human collaboration  概括敏捷过程的共性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Describe Scrum roles, artifacts, events, and the sprint cycle  描述 Scrum 的角色、工件、活动与冲刺循环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Decide when agile fits — and when it does not  判断敏捷的适用与不适用情境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Draft user stories for your SafeHome project (Exercise 2)  为 SafeHome 起草用户故事（练习2）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Why Agile Exists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敏捷为何而生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Software projects fail most often from: changing requirements, late feedback, oversized plans  软件项目最常见的失败原因：需求变化、反馈太晚、计划过大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Real-world pressures 现实压力: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    • Customers cannot state all needs up front  客户无法预先说清全部需求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    • Markets move while heavy documents are being written  市场在厚重文档写成之前已经变了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    • Working software after 12 months is worth less than a demo after 2 weeks  12 个月后的完整软件，常常不如 2 周后的演示有价值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Agile answers: short cycles, continuous feedback, embrace change  敏捷的回答：短周期、持续反馈、拥抱变化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64592" cy="173736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7373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8A86B"/>
                </a:solidFill>
                <a:latin typeface="Calibri"/>
                <ns0:rFonts xmlns:ns0="http://schemas.openxmlformats.org/wordprocessingml/2006/main" ns0:eastAsia="PingFang SC"/>
              </a:rP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3172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  <ns1:rFonts xmlns:ns1="http://schemas.openxmlformats.org/wordprocessingml/2006/main" ns1:eastAsia="PingFang SC"/>
              </a:rPr>
              <a:t>The Agile Mindset</a:t>
            </a:r>
            <a:r>
              <a:rPr sz="2000" b="0" i="0">
                <a:solidFill>
                  <a:srgbClr val="BDD0E8"/>
                </a:solidFill>
                <a:latin typeface="Calibri"/>
                <ns2:rFonts xmlns:ns2="http://schemas.openxmlformats.org/wordprocessingml/2006/main" ns2:eastAsia="PingFang SC"/>
              </a:rPr>
              <a:t>   敏捷思想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DE6F2"/>
                </a:solidFill>
                <a:latin typeface="Calibri"/>
                <ns3:rFonts xmlns:ns3="http://schemas.openxmlformats.org/wordprocessingml/2006/main" ns3:eastAsia="PingFang SC"/>
              </a:rPr>
              <a:t>Values and principles before practices</a:t>
            </a:r>
            <a:r>
              <a:rPr sz="12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   先讲价值观与原则，再谈实践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The Agile Manifesto (2001)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敏捷宣言的诞生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February 2001, Snowbird ski lodge, Utah — 17 practitioners of “lightweight methods”  2001 年 2 月，美国犹他州雪鸟滑雪场，17 位轻量级方法实践者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They found common ground despite different methods (XP, Scrum, Crystal, FDD …)  尽管方法各异（XP、Scrum、Crystal…），他们找到了共识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The result: 4 values + 12 principles — a mindset, not a concrete process  成果：4 条价值观 + 12 条原则——是一种理念，不是具体过程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“Agile” became the umbrella name for this family of methods  “敏捷”从此成为这一方法家族的统称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1:rFonts xmlns:ns11="http://schemas.openxmlformats.org/wordprocessingml/2006/main" ns11:eastAsia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The 4 Values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四条价值观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874520"/>
            <a:ext cx="4206240" cy="804672"/>
          </a:xfrm>
          <a:prstGeom prst="roundRect">
            <a:avLst>
              <a:gd name="adj" fmla="val 12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ns2:rFonts xmlns:ns2="http://schemas.openxmlformats.org/wordprocessingml/2006/main" ns2:eastAsia="PingFang SC"/>
              </a:rPr>
              <a:t>Individuals &amp; interactions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D8E6F5"/>
                </a:solidFill>
                <a:latin typeface="Calibri"/>
                <ns3:rFonts xmlns:ns3="http://schemas.openxmlformats.org/wordprocessingml/2006/main" ns3:eastAsia="PingFang SC"/>
              </a:rPr>
              <a:t>个体与互动</a:t>
            </a:r>
          </a:p>
        </p:txBody>
      </p:sp>
      <p:sp>
        <p:nvSpPr>
          <p:cNvPr id="6" name="Oval 5"/>
          <p:cNvSpPr/>
          <p:nvPr/>
        </p:nvSpPr>
        <p:spPr>
          <a:xfrm>
            <a:off x="5349240" y="2039112"/>
            <a:ext cx="640080" cy="475488"/>
          </a:xfrm>
          <a:prstGeom prst="ellipse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ns4:rFonts xmlns:ns4="http://schemas.openxmlformats.org/wordprocessingml/2006/main" ns4:eastAsia="PingFang SC"/>
              </a:rPr>
              <a:t>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74520"/>
            <a:ext cx="4206240" cy="804672"/>
          </a:xfrm>
          <a:prstGeom prst="roundRect">
            <a:avLst>
              <a:gd name="adj" fmla="val 12000"/>
            </a:avLst>
          </a:prstGeom>
          <a:solidFill>
            <a:srgbClr val="EAEEF4"/>
          </a:solidFill>
          <a:ln w="12700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5A6676"/>
                </a:solidFill>
                <a:latin typeface="Calibri"/>
                <ns5:rFonts xmlns:ns5="http://schemas.openxmlformats.org/wordprocessingml/2006/main" ns5:eastAsia="PingFang SC"/>
              </a:rPr>
              <a:t>Processes &amp; tools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  <ns6:rFonts xmlns:ns6="http://schemas.openxmlformats.org/wordprocessingml/2006/main" ns6:eastAsia="PingFang SC"/>
              </a:rPr>
              <a:t>流程与工具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880360"/>
            <a:ext cx="4206240" cy="804672"/>
          </a:xfrm>
          <a:prstGeom prst="roundRect">
            <a:avLst>
              <a:gd name="adj" fmla="val 12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ns7:rFonts xmlns:ns7="http://schemas.openxmlformats.org/wordprocessingml/2006/main" ns7:eastAsia="PingFang SC"/>
              </a:rPr>
              <a:t>Working software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D8E6F5"/>
                </a:solidFill>
                <a:latin typeface="Calibri"/>
                <ns8:rFonts xmlns:ns8="http://schemas.openxmlformats.org/wordprocessingml/2006/main" ns8:eastAsia="PingFang SC"/>
              </a:rPr>
              <a:t>可运行的软件</a:t>
            </a:r>
          </a:p>
        </p:txBody>
      </p:sp>
      <p:sp>
        <p:nvSpPr>
          <p:cNvPr id="9" name="Oval 8"/>
          <p:cNvSpPr/>
          <p:nvPr/>
        </p:nvSpPr>
        <p:spPr>
          <a:xfrm>
            <a:off x="5349240" y="3044952"/>
            <a:ext cx="640080" cy="475488"/>
          </a:xfrm>
          <a:prstGeom prst="ellipse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ns9:rFonts xmlns:ns9="http://schemas.openxmlformats.org/wordprocessingml/2006/main" ns9:eastAsia="PingFang SC"/>
              </a:rPr>
              <a:t>over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880360"/>
            <a:ext cx="4206240" cy="804672"/>
          </a:xfrm>
          <a:prstGeom prst="roundRect">
            <a:avLst>
              <a:gd name="adj" fmla="val 12000"/>
            </a:avLst>
          </a:prstGeom>
          <a:solidFill>
            <a:srgbClr val="EAEEF4"/>
          </a:solidFill>
          <a:ln w="12700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5A6676"/>
                </a:solidFill>
                <a:latin typeface="Calibri"/>
                <ns10:rFonts xmlns:ns10="http://schemas.openxmlformats.org/wordprocessingml/2006/main" ns10:eastAsia="PingFang SC"/>
              </a:rPr>
              <a:t>Comprehensive documentation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  <ns11:rFonts xmlns:ns11="http://schemas.openxmlformats.org/wordprocessingml/2006/main" ns11:eastAsia="PingFang SC"/>
              </a:rPr>
              <a:t>详尽的文档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886200"/>
            <a:ext cx="4206240" cy="804672"/>
          </a:xfrm>
          <a:prstGeom prst="roundRect">
            <a:avLst>
              <a:gd name="adj" fmla="val 12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ns12:rFonts xmlns:ns12="http://schemas.openxmlformats.org/wordprocessingml/2006/main" ns12:eastAsia="PingFang SC"/>
              </a:rPr>
              <a:t>Customer collaboration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D8E6F5"/>
                </a:solidFill>
                <a:latin typeface="Calibri"/>
                <ns13:rFonts xmlns:ns13="http://schemas.openxmlformats.org/wordprocessingml/2006/main" ns13:eastAsia="PingFang SC"/>
              </a:rPr>
              <a:t>客户协作</a:t>
            </a:r>
          </a:p>
        </p:txBody>
      </p:sp>
      <p:sp>
        <p:nvSpPr>
          <p:cNvPr id="12" name="Oval 11"/>
          <p:cNvSpPr/>
          <p:nvPr/>
        </p:nvSpPr>
        <p:spPr>
          <a:xfrm>
            <a:off x="5349240" y="4050792"/>
            <a:ext cx="640080" cy="475488"/>
          </a:xfrm>
          <a:prstGeom prst="ellipse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ns14:rFonts xmlns:ns14="http://schemas.openxmlformats.org/wordprocessingml/2006/main" ns14:eastAsia="PingFang SC"/>
              </a:rPr>
              <a:t>over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86200"/>
            <a:ext cx="4206240" cy="804672"/>
          </a:xfrm>
          <a:prstGeom prst="roundRect">
            <a:avLst>
              <a:gd name="adj" fmla="val 12000"/>
            </a:avLst>
          </a:prstGeom>
          <a:solidFill>
            <a:srgbClr val="EAEEF4"/>
          </a:solidFill>
          <a:ln w="12700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5A6676"/>
                </a:solidFill>
                <a:latin typeface="Calibri"/>
                <ns15:rFonts xmlns:ns15="http://schemas.openxmlformats.org/wordprocessingml/2006/main" ns15:eastAsia="PingFang SC"/>
              </a:rPr>
              <a:t>Contract negotiation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合同谈判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892040"/>
            <a:ext cx="4206240" cy="804672"/>
          </a:xfrm>
          <a:prstGeom prst="roundRect">
            <a:avLst>
              <a:gd name="adj" fmla="val 12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ns17:rFonts xmlns:ns17="http://schemas.openxmlformats.org/wordprocessingml/2006/main" ns17:eastAsia="PingFang SC"/>
              </a:rPr>
              <a:t>Responding to change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D8E6F5"/>
                </a:solidFill>
                <a:latin typeface="Calibri"/>
                <ns18:rFonts xmlns:ns18="http://schemas.openxmlformats.org/wordprocessingml/2006/main" ns18:eastAsia="PingFang SC"/>
              </a:rPr>
              <a:t>响应变化</a:t>
            </a:r>
          </a:p>
        </p:txBody>
      </p:sp>
      <p:sp>
        <p:nvSpPr>
          <p:cNvPr id="15" name="Oval 14"/>
          <p:cNvSpPr/>
          <p:nvPr/>
        </p:nvSpPr>
        <p:spPr>
          <a:xfrm>
            <a:off x="5349240" y="5056632"/>
            <a:ext cx="640080" cy="475488"/>
          </a:xfrm>
          <a:prstGeom prst="ellipse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ns19:rFonts xmlns:ns19="http://schemas.openxmlformats.org/wordprocessingml/2006/main" ns19:eastAsia="PingFang SC"/>
              </a:rPr>
              <a:t>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892040"/>
            <a:ext cx="4206240" cy="804672"/>
          </a:xfrm>
          <a:prstGeom prst="roundRect">
            <a:avLst>
              <a:gd name="adj" fmla="val 12000"/>
            </a:avLst>
          </a:prstGeom>
          <a:solidFill>
            <a:srgbClr val="EAEEF4"/>
          </a:solidFill>
          <a:ln w="12700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5A6676"/>
                </a:solidFill>
                <a:latin typeface="Calibri"/>
                <ns20:rFonts xmlns:ns20="http://schemas.openxmlformats.org/wordprocessingml/2006/main" ns20:eastAsia="PingFang SC"/>
              </a:rPr>
              <a:t>Following a plan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  <ns21:rFonts xmlns:ns21="http://schemas.openxmlformats.org/wordprocessingml/2006/main" ns21:eastAsia="PingFang SC"/>
              </a:rPr>
              <a:t>遵循计划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ns22:rFonts xmlns:ns22="http://schemas.openxmlformats.org/wordprocessingml/2006/main" ns22:eastAsia="PingFang SC"/>
              </a:rPr>
              <a:t>The Agile Manifesto (2001) — value the items on the left more  宣言：虽然右项也有价值，我们更重视左项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A8A"/>
                </a:solidFill>
                <a:latin typeface="Calibri"/>
                <ns23:rFonts xmlns:ns23="http://schemas.openxmlformats.org/wordprocessingml/2006/main" ns23:eastAsia="PingFang SC"/>
              </a:rPr>
              <a:t>“While there is value in the items on the right, we value the items on the left more.”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24:rFonts xmlns:ns24="http://schemas.openxmlformats.org/wordprocessingml/2006/main" ns24:eastAsia="PingFang SC"/>
              </a:rPr>
              <a:t>Read as: we value the left more — not “only the left”  解读：更重视左项，而非“只要左项”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5:rFonts xmlns:ns25="http://schemas.openxmlformats.org/wordprocessingml/2006/main" ns25:eastAsia="PingFang SC"/>
              </a:rPr>
              <a:t>Software Engineering I · 2026-2027-1 · Ren Zheng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6:rFonts xmlns:ns26="http://schemas.openxmlformats.org/wordprocessingml/2006/main" ns26:eastAsia="PingFang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12 Principles — the Essentials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12 条原则（精选）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Our highest priority: satisfy the customer through early and continuous delivery  最高优先级：通过尽早且持续地交付让客户满意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Welcome changing requirements, even late in development  欢迎需求变化，哪怕在开发后期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Business people and developers must work together daily  业务人员与开发人员必须每日协作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Build projects around motivated individuals; trust and support them  以有积极性的个体为核心构建项目，给予信任与支持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Face-to-face conversation is the best form of communication  面对面交谈是最好的沟通方式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Sustainable pace — able to maintain a constant pace indefinitely  可持续的节奏，能长期保持恒定步调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At regular intervals, the team reflects and adjusts — continuous improvement  定期回顾与调整——持续改进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What Is Agility?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什么是敏捷（Pressman）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Pressman: agility = “rapid and flexible response to change” + effective communication  Pressman 定义：敏捷 = 对变化快速灵活的响应 + 高效的沟通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It works best when 它在以下条件最有效: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    • The product is buildable in small increments  产品可按小增量构建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    • The customer is involved and gives feedback  客户参与并及时反馈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    • The team is competent, trusted, and self-organizing  团队有能力、被信任、可自组织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    • Culture tolerates change and ambiguity  文化上容忍变化与模糊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Agility is not chaos — it is disciplined adaptability  敏捷不是混乱，而是有纪律的适应性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Agile vs Plan-Driven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敏捷与计划驱动对比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155680" cy="26883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4526280"/>
                <a:gridCol w="45262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ns2:rFonts xmlns:ns2="http://schemas.openxmlformats.org/wordprocessingml/2006/main" ns2:eastAsia="PingFang SC"/>
                        </a:rPr>
                        <a:t>Dimension 维度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ns3:rFonts xmlns:ns3="http://schemas.openxmlformats.org/wordprocessingml/2006/main" ns3:eastAsia="PingFang SC"/>
                        </a:rPr>
                        <a:t>Plan-driven 计划驱动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ns4:rFonts xmlns:ns4="http://schemas.openxmlformats.org/wordprocessingml/2006/main" ns4:eastAsia="PingFang SC"/>
                        </a:rPr>
                        <a:t>Agile 敏捷</a:t>
                      </a:r>
                    </a:p>
                  </a:txBody>
                  <a:tcPr anchor="ctr" marL="73152" marR="7315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5:rFonts xmlns:ns5="http://schemas.openxmlformats.org/wordprocessingml/2006/main" ns5:eastAsia="PingFang SC"/>
                        </a:rPr>
                        <a:t>Requirements</a:t>
                      </a:r>
                      <a:r>
                        <a:rPr sz="1100" b="0" i="0">
                          <a:solidFill>
                            <a:srgbClr val="8A8A8A"/>
                          </a:solidFill>
                          <a:latin typeface="Calibri"/>
                          <ns6:rFonts xmlns:ns6="http://schemas.openxmlformats.org/wordprocessingml/2006/main" ns6:eastAsia="PingFang SC"/>
                        </a:rPr>
                        <a:t>  需求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7:rFonts xmlns:ns7="http://schemas.openxmlformats.org/wordprocessingml/2006/main" ns7:eastAsia="PingFang SC"/>
                        </a:rPr>
                        <a:t>Stable, known early  稳定，早期明确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8:rFonts xmlns:ns8="http://schemas.openxmlformats.org/wordprocessingml/2006/main" ns8:eastAsia="PingFang SC"/>
                        </a:rPr>
                        <a:t>Volatile, discovered  多变，逐步发现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9:rFonts xmlns:ns9="http://schemas.openxmlformats.org/wordprocessingml/2006/main" ns9:eastAsia="PingFang SC"/>
                        </a:rPr>
                        <a:t>Team size</a:t>
                      </a:r>
                      <a:r>
                        <a:rPr sz="1100" b="0" i="0">
                          <a:solidFill>
                            <a:srgbClr val="8A8A8A"/>
                          </a:solidFill>
                          <a:latin typeface="Calibri"/>
                          <ns10:rFonts xmlns:ns10="http://schemas.openxmlformats.org/wordprocessingml/2006/main" ns10:eastAsia="PingFang SC"/>
                        </a:rPr>
                        <a:t>  团队规模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11:rFonts xmlns:ns11="http://schemas.openxmlformats.org/wordprocessingml/2006/main" ns11:eastAsia="PingFang SC"/>
                        </a:rPr>
                        <a:t>Large, distributed  大型、分布式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12:rFonts xmlns:ns12="http://schemas.openxmlformats.org/wordprocessingml/2006/main" ns12:eastAsia="PingFang SC"/>
                        </a:rPr>
                        <a:t>Small, co-located  小型、集中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13:rFonts xmlns:ns13="http://schemas.openxmlformats.org/wordprocessingml/2006/main" ns13:eastAsia="PingFang SC"/>
                        </a:rPr>
                        <a:t>Safety criticality</a:t>
                      </a:r>
                      <a:r>
                        <a:rPr sz="1100" b="0" i="0">
                          <a:solidFill>
                            <a:srgbClr val="8A8A8A"/>
                          </a:solidFill>
                          <a:latin typeface="Calibri"/>
                          <ns14:rFonts xmlns:ns14="http://schemas.openxmlformats.org/wordprocessingml/2006/main" ns14:eastAsia="PingFang SC"/>
                        </a:rPr>
                        <a:t>  安全关键性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15:rFonts xmlns:ns15="http://schemas.openxmlformats.org/wordprocessingml/2006/main" ns15:eastAsia="PingFang SC"/>
                        </a:rPr>
                        <a:t>High — needs heavy documentation  高，需厚重文档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16:rFonts xmlns:ns16="http://schemas.openxmlformats.org/wordprocessingml/2006/main" ns16:eastAsia="PingFang SC"/>
                        </a:rPr>
                        <a:t>Low to moderate  中低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17:rFonts xmlns:ns17="http://schemas.openxmlformats.org/wordprocessingml/2006/main" ns17:eastAsia="PingFang SC"/>
                        </a:rPr>
                        <a:t>Culture</a:t>
                      </a:r>
                      <a:r>
                        <a:rPr sz="1100" b="0" i="0">
                          <a:solidFill>
                            <a:srgbClr val="8A8A8A"/>
                          </a:solidFill>
                          <a:latin typeface="Calibri"/>
                          <ns18:rFonts xmlns:ns18="http://schemas.openxmlformats.org/wordprocessingml/2006/main" ns18:eastAsia="PingFang SC"/>
                        </a:rPr>
                        <a:t>  文化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19:rFonts xmlns:ns19="http://schemas.openxmlformats.org/wordprocessingml/2006/main" ns19:eastAsia="PingFang SC"/>
                        </a:rPr>
                        <a:t>Order, predictability  秩序、可预测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20:rFonts xmlns:ns20="http://schemas.openxmlformats.org/wordprocessingml/2006/main" ns20:eastAsia="PingFang SC"/>
                        </a:rPr>
                        <a:t>Chaos-tolerant, empowered  容忍混沌、授权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21:rFonts xmlns:ns21="http://schemas.openxmlformats.org/wordprocessingml/2006/main" ns21:eastAsia="PingFang SC"/>
                        </a:rPr>
                        <a:t>Documentation</a:t>
                      </a:r>
                      <a:r>
                        <a:rPr sz="1100" b="0" i="0">
                          <a:solidFill>
                            <a:srgbClr val="8A8A8A"/>
                          </a:solidFill>
                          <a:latin typeface="Calibri"/>
                          <ns22:rFonts xmlns:ns22="http://schemas.openxmlformats.org/wordprocessingml/2006/main" ns22:eastAsia="PingFang SC"/>
                        </a:rPr>
                        <a:t>  文档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23:rFonts xmlns:ns23="http://schemas.openxmlformats.org/wordprocessingml/2006/main" ns23:eastAsia="PingFang SC"/>
                        </a:rPr>
                        <a:t>Comprehensive  详尽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24:rFonts xmlns:ns24="http://schemas.openxmlformats.org/wordprocessingml/2006/main" ns24:eastAsia="PingFang SC"/>
                        </a:rPr>
                        <a:t>“Just enough”  够用即可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25:rFonts xmlns:ns25="http://schemas.openxmlformats.org/wordprocessingml/2006/main" ns25:eastAsia="PingFang SC"/>
                        </a:rPr>
                        <a:t>Delivery</a:t>
                      </a:r>
                      <a:r>
                        <a:rPr sz="1100" b="0" i="0">
                          <a:solidFill>
                            <a:srgbClr val="8A8A8A"/>
                          </a:solidFill>
                          <a:latin typeface="Calibri"/>
                          <ns26:rFonts xmlns:ns26="http://schemas.openxmlformats.org/wordprocessingml/2006/main" ns26:eastAsia="PingFang SC"/>
                        </a:rPr>
                        <a:t>  交付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27:rFonts xmlns:ns27="http://schemas.openxmlformats.org/wordprocessingml/2006/main" ns27:eastAsia="PingFang SC"/>
                        </a:rPr>
                        <a:t>Big-bang at the end  末期一次性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50" b="0" i="0">
                          <a:solidFill>
                            <a:srgbClr val="2B2B2B"/>
                          </a:solidFill>
                          <a:latin typeface="Calibri"/>
                          <ns28:rFonts xmlns:ns28="http://schemas.openxmlformats.org/wordprocessingml/2006/main" ns28:eastAsia="PingFang SC"/>
                        </a:rPr>
                        <a:t>Small, frequent increments  小步高频交付</a:t>
                      </a:r>
                    </a:p>
                  </a:txBody>
                  <a:tcPr anchor="ctr" marL="73152" marR="73152" marT="18288" marB="18288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9:rFonts xmlns:ns29="http://schemas.openxmlformats.org/wordprocessingml/2006/main" ns29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30:rFonts xmlns:ns30="http://schemas.openxmlformats.org/wordprocessingml/2006/main" ns30:eastAsia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Agility &amp; the Cost of Change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敏捷与变更成本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Traditional view 传统观点: cost of a change rises steeply with time — fix it late = pay much more  变更成本随时间陡升——越晚修改代价越大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Agile claim 敏捷主张: with short cycles and continuous feedback, the curve flattens  通过短周期与持续反馈，曲线被“压平”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Practices that flatten the curve 压平曲线的手段: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    • Early prototypes &amp; tests catch problems sooner  原型与测试让问题更早暴露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    • Refactoring keeps design malleable  重构让设计保持可塑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    • Automated regression tests make change cheap to verify  自动化回归测试让变更的验证成本变低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Debate 辩论: the flattening depends on discipline — without good practices, change still hurts  曲线能否压平取决于工程纪律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Common Myths About Agile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敏捷常见迷思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Myth 1: “Agile means no documentation”  迷思1：敏捷=无文档  → Reality: document “just enough” — what has lasting value  现实：写“够用”的文档——有长期价值才写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Myth 2: “Agile means no planning”  迷思2：敏捷=无计划  → Reality: plan continuously, at multiple levels (release / iteration / day)  现实：多层持续地计划（发布/迭代/每日）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Myth 3: “Agile only works for small teams”  迷思3：敏捷只适合小团队  → Reality: scales with frameworks (SAFe, LeSS), at a coordination cost  现实：可用规模化框架扩展，但有协调成本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Myth 4: “Agile is a silver bullet”  迷思4：敏捷是银弹  → Reality: it is a trade-off space, not a cure-all  现实：它是一组权衡，不是万能药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0:rFonts xmlns:ns10="http://schemas.openxmlformats.org/wordprocessingml/2006/main" ns10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1:rFonts xmlns:ns11="http://schemas.openxmlformats.org/wordprocessingml/2006/main" ns11:eastAsia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The Agile Landscape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敏捷方法家族一览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Scrum — the most widely used framework; roles + events + artifacts  使用最广：角色+事件+工件（本课重点）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Extreme Programming (XP) — engineering practices: TDD, pair programming, refactoring  工程实践派：测试驱动、结对编程、重构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Kanban — visualize flow, limit work-in-progress, pull system  可视化流、限制在制品、拉动式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Lean — eliminate waste, amplify learning, decide as late as possible  消除浪费、延迟决策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This course: Scrum as the backbone; XP practices appear in construction weeks  本课程以 Scrum 为主线，工程实践在构建阶段展开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64592" cy="173736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7373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8A86B"/>
                </a:solidFill>
                <a:latin typeface="Calibri"/>
                <ns0:rFonts xmlns:ns0="http://schemas.openxmlformats.org/wordprocessingml/2006/main" ns0:eastAsia="PingFang SC"/>
              </a:rPr>
              <a:t>Part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3172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  <ns1:rFonts xmlns:ns1="http://schemas.openxmlformats.org/wordprocessingml/2006/main" ns1:eastAsia="PingFang SC"/>
              </a:rPr>
              <a:t>The Scrum Framework</a:t>
            </a:r>
            <a:r>
              <a:rPr sz="2000" b="0" i="0">
                <a:solidFill>
                  <a:srgbClr val="BDD0E8"/>
                </a:solidFill>
                <a:latin typeface="Calibri"/>
                <ns2:rFonts xmlns:ns2="http://schemas.openxmlformats.org/wordprocessingml/2006/main" ns2:eastAsia="PingFang SC"/>
              </a:rPr>
              <a:t>   Scrum 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DE6F2"/>
                </a:solidFill>
                <a:latin typeface="Calibri"/>
                <ns3:rFonts xmlns:ns3="http://schemas.openxmlformats.org/wordprocessingml/2006/main" ns3:eastAsia="PingFang SC"/>
              </a:rPr>
              <a:t>Roles, artifacts, and events — the machine room of agility</a:t>
            </a:r>
            <a:r>
              <a:rPr sz="12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   角色、工件与活动——敏捷的机房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What Is Scrum?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什么是 Scrum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Name from rugby “scrum” — the whole team moves forward as one  名字来自橄榄球“并列争球”——全队作为一个整体推进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A lightweight framework, not a process or technique  轻量级框架，不是具体过程或技术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Built on empiricism 经验主义过程控制 — three pillars 三支柱: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    • Transparency 透明 — the process and work are visible to all  过程与工作对全员可见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    • Inspection 检视 — frequently check artifacts and progress  频繁检查工件与进度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    • Adaptation 适应 — adjust promptly when deviation is found  发现偏差立即调整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Origin: Sutherland &amp; Schwaber (1990s); canonical text: Scrum Guide (2020)  起源：Sutherland 与 Schwaber；权威文本：Scrum Guide 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Five Scrum Values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Scrum 五价值观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Commitment 承诺 — personally commit to achieving the team’s goals  个人承诺达成团队目标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Focus 专注 — concentrate on the sprint work and goals  专注本冲刺的工作与目标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Openness 开放 — be transparent about work and challenges  对工作与挑战保持透明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Respect 尊重 — respect each other as capable, independent people  尊重彼此是有能力、独立的人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Courage 勇气 — do the right thing and tackle tough problems  敢做正确的事，敢碰难题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These values make the three pillars real in daily behavior  五价值观让三支柱落实为日常行为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Three Roles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三种角色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0" y="3154680"/>
            <a:ext cx="3017520" cy="105156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  <ns2:rFonts xmlns:ns2="http://schemas.openxmlformats.org/wordprocessingml/2006/main" ns2:eastAsia="PingFang SC"/>
              </a:rPr>
              <a:t>Scrum Team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BDD0E8"/>
                </a:solidFill>
                <a:latin typeface="Calibri"/>
                <ns3:rFonts xmlns:ns3="http://schemas.openxmlformats.org/wordprocessingml/2006/main" ns3:eastAsia="PingFang SC"/>
              </a:rPr>
              <a:t>一个团队，三种角色  one team, three accountabilities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691640"/>
            <a:ext cx="3017520" cy="1188720"/>
          </a:xfrm>
          <a:prstGeom prst="roundRect">
            <a:avLst>
              <a:gd name="adj" fmla="val 10000"/>
            </a:avLst>
          </a:prstGeom>
          <a:solidFill>
            <a:srgbClr val="DCE8F4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Product Owner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  <ns5:rFonts xmlns:ns5="http://schemas.openxmlformats.org/wordprocessingml/2006/main" ns5:eastAsia="PingFang SC"/>
              </a:rPr>
              <a:t>产品负责人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Maximizes product value · owns &amp; orders the Backlog  最大化产品价值，管理并排序待办列表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663440"/>
            <a:ext cx="3017520" cy="1188720"/>
          </a:xfrm>
          <a:prstGeom prst="roundRect">
            <a:avLst>
              <a:gd name="adj" fmla="val 10000"/>
            </a:avLst>
          </a:prstGeom>
          <a:solidFill>
            <a:srgbClr val="DCE8F4"/>
          </a:solidFill>
          <a:ln w="22225">
            <a:solidFill>
              <a:srgbClr val="3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3E8E5A"/>
                </a:solidFill>
                <a:latin typeface="Calibri"/>
                <ns7:rFonts xmlns:ns7="http://schemas.openxmlformats.org/wordprocessingml/2006/main" ns7:eastAsia="PingFang SC"/>
              </a:rPr>
              <a:t>Scrum Master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  <ns8:rFonts xmlns:ns8="http://schemas.openxmlformats.org/wordprocessingml/2006/main" ns8:eastAsia="PingFang SC"/>
              </a:rPr>
              <a:t>敏捷教练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Servant leader · removes obstacles · protects the process  服务型领导，排除障碍，守护流程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4663440"/>
            <a:ext cx="3017520" cy="1188720"/>
          </a:xfrm>
          <a:prstGeom prst="roundRect">
            <a:avLst>
              <a:gd name="adj" fmla="val 10000"/>
            </a:avLst>
          </a:prstGeom>
          <a:solidFill>
            <a:srgbClr val="DCE8F4"/>
          </a:solidFill>
          <a:ln w="22225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E87A2E"/>
                </a:solidFill>
                <a:latin typeface="Calibri"/>
                <ns10:rFonts xmlns:ns10="http://schemas.openxmlformats.org/wordprocessingml/2006/main" ns10:eastAsia="PingFang SC"/>
              </a:rPr>
              <a:t>Developers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  <ns11:rFonts xmlns:ns11="http://schemas.openxmlformats.org/wordprocessingml/2006/main" ns11:eastAsia="PingFang SC"/>
              </a:rPr>
              <a:t>开发人员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Cross-functional, self-organizing · build the Increment  跨职能自组织，构建可用增量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Scrum Master is NOT a project manager — no task assignment, no hierarchy  Scrum Master 不是项目经理——不分派任务、不搞层级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One team, three accountabilities — not three silos  一个团队，三种职责——不是三个部门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Software Engineering I · 2026-2027-1 · Ren Zheng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Product Owner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产品负责人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Owns and orders the Product Backlog — a single, visible, ordered list  独自管理并排序产品待办列表——唯一、可见、有序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Represents the customer and business value  代表客户与业务价值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Says “yes / no / later” to features — and is accountable for ROI  对功能说“是/否/以后”——对投资回报负责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One person, not a committee; decisions must be respected  是一个人而非委员会；其决定必须被尊重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In your SafeHome project: the PO role can rotate monthly  SafeHome 项目中：PO 角色可每月轮换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Scrum Master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敏捷教练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Servant leader 服务型领导 — leads by serving the team, not by command  以服务而非命令来领导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Ensures the team follows Scrum; coaches the organization  确保团队正确运用 Scrum；辅导组织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Removes impediments: broken builds, missing environments, blockers  排除障碍：构建失败、环境缺失、外部阻塞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Facilitates events as needed — but the team owns them  按需引导各活动——但活动属于团队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NOT a project manager: no task assignment, no performance appraisals  不是项目经理：不分派任务、不做绩效考核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Developers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开发人员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Cross-functional: design, code, test, document — whatever the Increment needs  跨职能：设计、编码、测试、文档——增量需要什么就做什么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Self-organizing: they decide HOW to turn Backlog into Increment  自组织：自行决定如何把待办变成增量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Estimate and plan the work — nobody estimates “for” them  估算与计划由他们自己做——没人替他们估算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Typical size: 10 or fewer — small enough to stay nimble  规模通常 ≤10 人，小到足够敏捷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Quality is built in by the Developers’ Definition of Done  质量由开发人员的“完成定义”内建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Three Artifacts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三大工件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Product Backlog 产品待办列表 — everything potentially wanted in the product, ordered by value  产品可能需要的一切，按价值排序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Sprint Backlog 冲刺待办列表 — why / what / how for this sprint (goal + selected items + plan)  本冲刺的目标+条目+计划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Increment 增量 — a working, usable slice of product, meets the Definition of Done  可用的产品切片，满足完成定义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Each artifact maximizes transparency — anyone can see the state  每个工件都最大化透明——任何人都能看到状态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Commitment per artifact: Product Goal / Sprint Goal / Definition of Done  每个工件配一个承诺：产品目标/冲刺目标/完成定义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The Product Backlog &amp; User Stories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产品待办列表与用户故事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Backlog items are often written as user stories  待办条目常写成“用户故事”: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    As a 〈role〉, I want 〈feature〉, so that 〈benefit〉.  作为〈角色〉，我想要〈功能〉，以便〈价值〉。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Example 示例: As a homeowner, I want to arm the alarm from my phone, so that I feel safe when away  作为房主，我想用手机布防，以便外出时安心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Ordering is value-driven: the most valuable items float to the top  排序由价值驱动：最有价值的条目浮到最上面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Top items are “ready”: small, clear, testable; lower ones stay coarse  顶部条目“就绪”：小、清晰、可测试；下部保持粗粒度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The backlog is a living artifact — it is re-ordered every sprint  待办列表是活的——每个冲刺都重新排序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The Sprint Cycle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冲刺循环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17719" y="1645920"/>
            <a:ext cx="2926080" cy="1051560"/>
          </a:xfrm>
          <a:prstGeom prst="roundRect">
            <a:avLst>
              <a:gd name="adj" fmla="val 12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ns2:rFonts xmlns:ns2="http://schemas.openxmlformats.org/wordprocessingml/2006/main" ns2:eastAsia="PingFang SC"/>
              </a:rPr>
              <a:t>Sprint Planning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D8E6F5"/>
                </a:solidFill>
                <a:latin typeface="Calibri"/>
                <ns3:rFonts xmlns:ns3="http://schemas.openxmlformats.org/wordprocessingml/2006/main" ns3:eastAsia="PingFang SC"/>
              </a:rPr>
              <a:t>冲刺计划 · what &amp; how for this sprint  本冲刺做什么、怎么做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3520440"/>
            <a:ext cx="2926080" cy="1051560"/>
          </a:xfrm>
          <a:prstGeom prst="roundRect">
            <a:avLst>
              <a:gd name="adj" fmla="val 12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ns4:rFonts xmlns:ns4="http://schemas.openxmlformats.org/wordprocessingml/2006/main" ns4:eastAsia="PingFang SC"/>
              </a:rPr>
              <a:t>Daily Scrum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D8E6F5"/>
                </a:solidFill>
                <a:latin typeface="Calibri"/>
                <ns5:rFonts xmlns:ns5="http://schemas.openxmlformats.org/wordprocessingml/2006/main" ns5:eastAsia="PingFang SC"/>
              </a:rPr>
              <a:t>每日站会 · 15 min · every day  每天 15 分钟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19" y="5029200"/>
            <a:ext cx="2926080" cy="1051560"/>
          </a:xfrm>
          <a:prstGeom prst="roundRect">
            <a:avLst>
              <a:gd name="adj" fmla="val 12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ns6:rFonts xmlns:ns6="http://schemas.openxmlformats.org/wordprocessingml/2006/main" ns6:eastAsia="PingFang SC"/>
              </a:rPr>
              <a:t>Sprint Review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D8E6F5"/>
                </a:solidFill>
                <a:latin typeface="Calibri"/>
                <ns7:rFonts xmlns:ns7="http://schemas.openxmlformats.org/wordprocessingml/2006/main" ns7:eastAsia="PingFang SC"/>
              </a:rPr>
              <a:t>冲刺评审 · demo the Increment  演示可用增量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2926080" cy="1051560"/>
          </a:xfrm>
          <a:prstGeom prst="roundRect">
            <a:avLst>
              <a:gd name="adj" fmla="val 12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ns8:rFonts xmlns:ns8="http://schemas.openxmlformats.org/wordprocessingml/2006/main" ns8:eastAsia="PingFang SC"/>
              </a:rPr>
              <a:t>Sprint Retrospective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D8E6F5"/>
                </a:solidFill>
                <a:latin typeface="Calibri"/>
                <ns9:rFonts xmlns:ns9="http://schemas.openxmlformats.org/wordprocessingml/2006/main" ns9:eastAsia="PingFang SC"/>
              </a:rPr>
              <a:t>冲刺回顾 · improve the team  团队改进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19" y="3337560"/>
            <a:ext cx="2926080" cy="1051560"/>
          </a:xfrm>
          <a:prstGeom prst="roundRect">
            <a:avLst>
              <a:gd name="adj" fmla="val 12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ns10:rFonts xmlns:ns10="http://schemas.openxmlformats.org/wordprocessingml/2006/main" ns10:eastAsia="PingFang SC"/>
              </a:rPr>
              <a:t>THE SPRINT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FDE8D6"/>
                </a:solidFill>
                <a:latin typeface="Calibri"/>
                <ns11:rFonts xmlns:ns11="http://schemas.openxmlformats.org/wordprocessingml/2006/main" ns11:eastAsia="PingFang SC"/>
              </a:rPr>
              <a:t>固定 1–4 周 · 产出可用增量  fixed length, usable Increment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0574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7A2E"/>
                </a:solidFill>
                <a:latin typeface="Calibri"/>
                <ns12:rFonts xmlns:ns12="http://schemas.openxmlformats.org/wordprocessingml/2006/main" ns12:eastAsia="PingFang SC"/>
              </a:rPr>
              <a:t>1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48006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7A2E"/>
                </a:solidFill>
                <a:latin typeface="Calibri"/>
                <ns13:rFonts xmlns:ns13="http://schemas.openxmlformats.org/wordprocessingml/2006/main" ns13:eastAsia="PingFang SC"/>
              </a:rPr>
              <a:t>2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57150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7A2E"/>
                </a:solidFill>
                <a:latin typeface="Calibri"/>
                <ns14:rFonts xmlns:ns14="http://schemas.openxmlformats.org/wordprocessingml/2006/main" ns14:eastAsia="PingFang SC"/>
              </a:rPr>
              <a:t>3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8006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7A2E"/>
                </a:solidFill>
                <a:latin typeface="Calibri"/>
                <ns15:rFonts xmlns:ns15="http://schemas.openxmlformats.org/wordprocessingml/2006/main" ns15:eastAsia="PingFang SC"/>
              </a:rPr>
              <a:t>4 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  <ns16:rFonts xmlns:ns16="http://schemas.openxmlformats.org/wordprocessingml/2006/main" ns16:eastAsia="PingFang SC"/>
              </a:rPr>
              <a:t>The cycle repeats — every sprint ends with a potentially shippable Increment  循环往复：每个冲刺结束都产出可交付的增量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All events happen inside the sprint — a fixed-length container  所有活动都发生在固定时长的冲刺之内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8:rFonts xmlns:ns18="http://schemas.openxmlformats.org/wordprocessingml/2006/main" ns18:eastAsia="PingFang SC"/>
              </a:rPr>
              <a:t>Software Engineering I · 2026-2027-1 · Ren Zheng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Sprint Planning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冲刺计划会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Time-boxed: max 8 hours for a one-month sprint (shorter for shorter sprints)  有时限：一个月冲刺最多 8 小时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Three questions 三个问题: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    • Why is this sprint valuable? (Sprint Goal 冲刺目标)  本冲刺的价值是什么？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    • What can be done this sprint? (select Backlog items)  本冲刺能完成什么？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    • How will the work get done? (plan into tasks)  工作如何完成？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Output: Sprint Backlog = goal + selected items + plan  产出：冲刺待办列表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Daily Scrum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每日站会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15 minutes, same time, same place, every working day  每个工作日、同一时间、同一地点、15 分钟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Inspect progress toward the Sprint Goal and adapt the day’s plan  检视冲刺目标进展，调整当日计划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Each Developer answers three questions 每人回答三问: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    • What did I do yesterday?  昨天做了什么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    • What will I do today?  今天打算做什么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    • Do I see any impediment?  有没有障碍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It is a planning meeting for Developers — NOT a status report to a boss  这是开发人员的计划会——不是向领导汇报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Sprint Review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冲刺评审会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Time-boxed: max 4 hours for a one-month sprint  有时限：一个月冲刺最多 4 小时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The team presents the Increment to stakeholders — working software, not slides  向利益相关者演示增量——是可运行的软件，不是幻灯片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Discuss: what was done, what changed, what is next in the Backlog  讨论：完成了什么、发生了什么变化、待办下一步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Feedback flows back into the Product Backlog immediately  反馈立即回流到产品待办列表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Working session, not a ceremony — collaboration over presentation  是协作的工作会，不是走过场的汇报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Sprint Retrospective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冲刺回顾会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Time-boxed: max 3 hours for a one-month sprint  有时限：一个月冲刺最多 3 小时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The team inspects ITSELF — people, process, tools, culture  团队检视自身——人、过程、工具、协作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Classic three columns 经典三栏: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    • What went well?  做得好的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    • What could be improved?  可改进的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    • What will we commit to change?  承诺改变的行动项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Ends with concrete action items for the next sprint — not just feelings  以下个冲刺的具体行动项收尾——不空谈感受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Velocity &amp; Burndown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速度与燃尽图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63040" y="5303520"/>
            <a:ext cx="8778240" cy="190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2377440"/>
            <a:ext cx="19050" cy="29260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3864"/>
                </a:solidFill>
                <a:latin typeface="Calibri"/>
                <ns2:rFonts xmlns:ns2="http://schemas.openxmlformats.org/wordprocessingml/2006/main" ns2:eastAsia="PingFang SC"/>
              </a:rPr>
              <a:t>Remaining work (story points)  剩余工作量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41324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3864"/>
                </a:solidFill>
                <a:latin typeface="Calibri"/>
                <ns3:rFonts xmlns:ns3="http://schemas.openxmlformats.org/wordprocessingml/2006/main" ns3:eastAsia="PingFang SC"/>
              </a:rPr>
              <a:t>Sprint days  冲刺天数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63040" y="2377440"/>
            <a:ext cx="8778240" cy="2926080"/>
          </a:xfrm>
          <a:prstGeom prst="line">
            <a:avLst/>
          </a:prstGeom>
          <a:ln w="22225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63040" y="2435962"/>
            <a:ext cx="1316736" cy="351130"/>
          </a:xfrm>
          <a:prstGeom prst="line">
            <a:avLst/>
          </a:prstGeom>
          <a:ln w="31750">
            <a:solidFill>
              <a:srgbClr val="E8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79776" y="2787092"/>
            <a:ext cx="1755648" cy="58521"/>
          </a:xfrm>
          <a:prstGeom prst="line">
            <a:avLst/>
          </a:prstGeom>
          <a:ln w="31750">
            <a:solidFill>
              <a:srgbClr val="E8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35424" y="2845613"/>
            <a:ext cx="1316736" cy="643738"/>
          </a:xfrm>
          <a:prstGeom prst="line">
            <a:avLst/>
          </a:prstGeom>
          <a:ln w="31750">
            <a:solidFill>
              <a:srgbClr val="E8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3489351"/>
            <a:ext cx="1755648" cy="204825"/>
          </a:xfrm>
          <a:prstGeom prst="line">
            <a:avLst/>
          </a:prstGeom>
          <a:ln w="31750">
            <a:solidFill>
              <a:srgbClr val="E8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07808" y="3694176"/>
            <a:ext cx="1316736" cy="790042"/>
          </a:xfrm>
          <a:prstGeom prst="line">
            <a:avLst/>
          </a:prstGeom>
          <a:ln w="31750">
            <a:solidFill>
              <a:srgbClr val="E8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24544" y="4484218"/>
            <a:ext cx="1316736" cy="702259"/>
          </a:xfrm>
          <a:prstGeom prst="line">
            <a:avLst/>
          </a:prstGeom>
          <a:ln w="31750">
            <a:solidFill>
              <a:srgbClr val="E87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28800" y="2377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— — ideal 理想线      —— actual 实际线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Burndown chart tracks remaining work daily; velocity = story points completed per sprint  燃尽图每日跟踪剩余工作；速度 = 每个冲刺完成的故事点数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6:rFonts xmlns:ns6="http://schemas.openxmlformats.org/wordprocessingml/2006/main" ns6:eastAsia="PingFang SC"/>
              </a:rPr>
              <a:t>Metrics guide planning — they do not judge individuals  度量用于计划，不用来评判个人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7:rFonts xmlns:ns7="http://schemas.openxmlformats.org/wordprocessingml/2006/main" ns7:eastAsia="PingFang SC"/>
              </a:rPr>
              <a:t>Software Engineering I · 2026-2027-1 · Ren Zheng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8:rFonts xmlns:ns8="http://schemas.openxmlformats.org/wordprocessingml/2006/main" ns8:eastAsia="PingFang SC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Story Point Estimation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故事点估算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Relative size, not hours — “this is twice as big as that”  相对大小而非小时数——“这个是那个的两倍大”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Fibonacci-like scale: 1, 2, 3, 5, 8, 13, 20 … (bigger = fuzzier)  斐波那契数列：越大越模糊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Planning Poker 规划扑克: everyone reveals an estimate simultaneously  所有人同时亮牌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    • Large spread = misunderstanding → discuss, re-vote  分歧大 = 理解不一致 → 讨论、重投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    • Consensus emerges fast and quietly surfaces hidden assumptions  快速达成共识，还能暴露隐藏假设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Velocity 速度 = story points completed per sprint — used to forecast, not to compare teams  每冲刺完成的点数——用于预测，不用于团队间比较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Definition of Done (DoD)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完成定义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“Done” means more than “the code runs”  “完成”不只是“代码能跑”: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    • Code written &amp; peer-reviewed  代码已编写并通过同行评审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    • Unit tests written and passing  单元测试已写且通过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    • Integrated into the main build  已集成进主构建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    • Documentation updated  文档已更新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The team agrees on its DoD and applies it to every Increment  团队共同约定 DoD，并适用于每个增量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Weak DoD = hidden rework (“done-done” is not done)  弱 DoD = 隐性返工（“差不多完成”就是没完成）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6:rFonts xmlns:ns16="http://schemas.openxmlformats.org/wordprocessingml/2006/main" ns16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Scrum in 30 Seconds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Scrum 全景图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291840" cy="4206240"/>
          </a:xfrm>
          <a:prstGeom prst="roundRect">
            <a:avLst>
              <a:gd name="adj" fmla="val 4000"/>
            </a:avLst>
          </a:prstGeom>
          <a:solidFill>
            <a:srgbClr val="DCE8F4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3 ROLES  三种角色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286000"/>
            <a:ext cx="274320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ns3:rFonts xmlns:ns3="http://schemas.openxmlformats.org/wordprocessingml/2006/main" ns3:eastAsia="PingFang SC"/>
              </a:rPr>
              <a:t>Product Owner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4:rFonts xmlns:ns4="http://schemas.openxmlformats.org/wordprocessingml/2006/main" ns4:eastAsia="PingFang SC"/>
              </a:rPr>
              <a:t>产品负责人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337560"/>
            <a:ext cx="274320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ns5:rFonts xmlns:ns5="http://schemas.openxmlformats.org/wordprocessingml/2006/main" ns5:eastAsia="PingFang SC"/>
              </a:rPr>
              <a:t>Scrum Master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6:rFonts xmlns:ns6="http://schemas.openxmlformats.org/wordprocessingml/2006/main" ns6:eastAsia="PingFang SC"/>
              </a:rPr>
              <a:t>敏捷教练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389120"/>
            <a:ext cx="274320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ns7:rFonts xmlns:ns7="http://schemas.openxmlformats.org/wordprocessingml/2006/main" ns7:eastAsia="PingFang SC"/>
              </a:rPr>
              <a:t>Developers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8:rFonts xmlns:ns8="http://schemas.openxmlformats.org/wordprocessingml/2006/main" ns8:eastAsia="PingFang SC"/>
              </a:rPr>
              <a:t>开发人员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291840" cy="4206240"/>
          </a:xfrm>
          <a:prstGeom prst="roundRect">
            <a:avLst>
              <a:gd name="adj" fmla="val 4000"/>
            </a:avLst>
          </a:prstGeom>
          <a:solidFill>
            <a:srgbClr val="DCE8F4"/>
          </a:solidFill>
          <a:ln w="15875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7373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7A2E"/>
                </a:solidFill>
                <a:latin typeface="Calibri"/>
                <ns9:rFonts xmlns:ns9="http://schemas.openxmlformats.org/wordprocessingml/2006/main" ns9:eastAsia="PingFang SC"/>
              </a:rPr>
              <a:t>5 EVENTS  五个事件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28600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  <ns10:rFonts xmlns:ns10="http://schemas.openxmlformats.org/wordprocessingml/2006/main" ns10:eastAsia="PingFang SC"/>
              </a:rPr>
              <a:t>The Sprint (container)  冲刺本身：1–4周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92608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  <ns11:rFonts xmlns:ns11="http://schemas.openxmlformats.org/wordprocessingml/2006/main" ns11:eastAsia="PingFang SC"/>
              </a:rPr>
              <a:t>Sprint Planning  冲刺计划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56616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  <ns12:rFonts xmlns:ns12="http://schemas.openxmlformats.org/wordprocessingml/2006/main" ns12:eastAsia="PingFang SC"/>
              </a:rPr>
              <a:t>Daily Scrum  每日站会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20624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  <ns13:rFonts xmlns:ns13="http://schemas.openxmlformats.org/wordprocessingml/2006/main" ns13:eastAsia="PingFang SC"/>
              </a:rPr>
              <a:t>Sprint Review  冲刺评审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4846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Calibri"/>
                <ns14:rFonts xmlns:ns14="http://schemas.openxmlformats.org/wordprocessingml/2006/main" ns14:eastAsia="PingFang SC"/>
              </a:rPr>
              <a:t>Sprint Retrospective  冲刺回顾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600200"/>
            <a:ext cx="3291840" cy="4206240"/>
          </a:xfrm>
          <a:prstGeom prst="roundRect">
            <a:avLst>
              <a:gd name="adj" fmla="val 4000"/>
            </a:avLst>
          </a:prstGeom>
          <a:solidFill>
            <a:srgbClr val="DCE8F4"/>
          </a:solidFill>
          <a:ln w="15875">
            <a:solidFill>
              <a:srgbClr val="3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17373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8E5A"/>
                </a:solidFill>
                <a:latin typeface="Calibri"/>
                <ns15:rFonts xmlns:ns15="http://schemas.openxmlformats.org/wordprocessingml/2006/main" ns15:eastAsia="PingFang SC"/>
              </a:rPr>
              <a:t>3 ARTIFACTS  三大工件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286000"/>
            <a:ext cx="2743200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3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  <ns16:rFonts xmlns:ns16="http://schemas.openxmlformats.org/wordprocessingml/2006/main" ns16:eastAsia="PingFang SC"/>
              </a:rPr>
              <a:t>Product Backlog  产品待办列表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17:rFonts xmlns:ns17="http://schemas.openxmlformats.org/wordprocessingml/2006/main" ns17:eastAsia="PingFang SC"/>
              </a:rPr>
              <a:t>ordered by value  按价值排序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337560"/>
            <a:ext cx="2743200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3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  <ns18:rFonts xmlns:ns18="http://schemas.openxmlformats.org/wordprocessingml/2006/main" ns18:eastAsia="PingFang SC"/>
              </a:rPr>
              <a:t>Sprint Backlog  冲刺待办列表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this sprint’s plan  本冲刺计划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4389120"/>
            <a:ext cx="2743200" cy="8229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3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Calibri"/>
                <ns20:rFonts xmlns:ns20="http://schemas.openxmlformats.org/wordprocessingml/2006/main" ns20:eastAsia="PingFang SC"/>
              </a:rPr>
              <a:t>Increment  可用增量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8A8A8A"/>
                </a:solidFill>
                <a:latin typeface="Calibri"/>
                <ns21:rFonts xmlns:ns21="http://schemas.openxmlformats.org/wordprocessingml/2006/main" ns21:eastAsia="PingFang SC"/>
              </a:rPr>
              <a:t>meets the DoD  满足完成定义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  <ns22:rFonts xmlns:ns22="http://schemas.openxmlformats.org/wordprocessingml/2006/main" ns22:eastAsia="PingFang SC"/>
              </a:rPr>
              <a:t>Scrum = 3 roles + 5 events + 3 artifacts, bound together by empiricism  Scrum = 三角色 + 五事件 + 三工件，以经验主义过程控制为纽带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03504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A8A"/>
                </a:solidFill>
                <a:latin typeface="Calibri"/>
                <ns23:rFonts xmlns:ns23="http://schemas.openxmlformats.org/wordprocessingml/2006/main" ns23:eastAsia="PingFang SC"/>
              </a:rPr>
              <a:t>Print this slide — it is the whole framework on one page  打印这一页：整个框架一图流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4:rFonts xmlns:ns24="http://schemas.openxmlformats.org/wordprocessingml/2006/main" ns24:eastAsia="PingFang SC"/>
              </a:rPr>
              <a:t>Software Engineering I · 2026-2027-1 · Ren Zheng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5:rFonts xmlns:ns25="http://schemas.openxmlformats.org/wordprocessingml/2006/main" ns25:eastAsia="PingFang SC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Scrum vs Extreme Programming (XP)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Scrum 与 XP 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6187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Scrum — manage the work  管理框架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3:rFonts xmlns:ns3="http://schemas.openxmlformats.org/wordprocessingml/2006/main" ns3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4:rFonts xmlns:ns4="http://schemas.openxmlformats.org/wordprocessingml/2006/main" ns4:eastAsia="PingFang SC"/>
              </a:rPr>
              <a:t>Framework: roles + events + artifacts  框架：角色+事件+工件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5:rFonts xmlns:ns5="http://schemas.openxmlformats.org/wordprocessingml/2006/main" ns5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6:rFonts xmlns:ns6="http://schemas.openxmlformats.org/wordprocessingml/2006/main" ns6:eastAsia="PingFang SC"/>
              </a:rPr>
              <a:t>Fixed-length sprints  固定长度冲刺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7:rFonts xmlns:ns7="http://schemas.openxmlformats.org/wordprocessingml/2006/main" ns7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8:rFonts xmlns:ns8="http://schemas.openxmlformats.org/wordprocessingml/2006/main" ns8:eastAsia="PingFang SC"/>
              </a:rPr>
              <a:t>No prescribed engineering practices  不规定工程实践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9:rFonts xmlns:ns9="http://schemas.openxmlformats.org/wordprocessingml/2006/main" ns9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0:rFonts xmlns:ns10="http://schemas.openxmlformats.org/wordprocessingml/2006/main" ns10:eastAsia="PingFang SC"/>
              </a:rPr>
              <a:t>Team self-organizes the HOW  由团队自组织决定怎么做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1:rFonts xmlns:ns11="http://schemas.openxmlformats.org/wordprocessingml/2006/main" ns11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2:rFonts xmlns:ns12="http://schemas.openxmlformats.org/wordprocessingml/2006/main" ns12:eastAsia="PingFang SC"/>
              </a:rPr>
              <a:t>Most common agile framework in industry  业界使用最广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6187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3:rFonts xmlns:ns13="http://schemas.openxmlformats.org/wordprocessingml/2006/main" ns13:eastAsia="PingFang SC"/>
              </a:rPr>
              <a:t>XP — engineer the product  工程实践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9164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Practices: TDD, pair programming, refactoring, CI  实践：测试驱动、结对编程、重构、持续集成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6:rFonts xmlns:ns16="http://schemas.openxmlformats.org/wordprocessingml/2006/main" ns1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7:rFonts xmlns:ns17="http://schemas.openxmlformats.org/wordprocessingml/2006/main" ns17:eastAsia="PingFang SC"/>
              </a:rPr>
              <a:t>Iteration rhythm similar to sprints  迭代节奏与冲刺类似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8:rFonts xmlns:ns18="http://schemas.openxmlformats.org/wordprocessingml/2006/main" ns1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9:rFonts xmlns:ns19="http://schemas.openxmlformats.org/wordprocessingml/2006/main" ns19:eastAsia="PingFang SC"/>
              </a:rPr>
              <a:t>Prescribes HOW to build quality in  明确规定如何内建质量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0:rFonts xmlns:ns20="http://schemas.openxmlformats.org/wordprocessingml/2006/main" ns2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21:rFonts xmlns:ns21="http://schemas.openxmlformats.org/wordprocessingml/2006/main" ns21:eastAsia="PingFang SC"/>
              </a:rPr>
              <a:t>Customer on site  客户在现场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2:rFonts xmlns:ns22="http://schemas.openxmlformats.org/wordprocessingml/2006/main" ns2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23:rFonts xmlns:ns23="http://schemas.openxmlformats.org/wordprocessingml/2006/main" ns23:eastAsia="PingFang SC"/>
              </a:rPr>
              <a:t>Often combined: Scrum + XP practices  常常组合使用：Scrum 管过程 + XP 管工程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4:rFonts xmlns:ns24="http://schemas.openxmlformats.org/wordprocessingml/2006/main" ns24:eastAsia="PingFang SC"/>
              </a:rPr>
              <a:t>Software Engineering I · 2026-2027-1 · Ren Zheng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5:rFonts xmlns:ns25="http://schemas.openxmlformats.org/wordprocessingml/2006/main" ns25:eastAsia="PingFang SC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When Agile Fits — and When Not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敏捷的适用边界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Good fit 适用: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    • Unclear or fast-changing requirements  需求不明或变化快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    • Small, skilled, co-located, self-organizing teams  小型、有技能、集中、可自组织的团队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    • Product can be delivered in increments  产品可增量交付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    • Customer can participate continuously  客户能持续参与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Poor fit 不适用: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    • Safety-critical systems requiring heavyweight certification  安全关键系统需重度认证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16:rFonts xmlns:ns16="http://schemas.openxmlformats.org/wordprocessingml/2006/main" ns16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17:rFonts xmlns:ns17="http://schemas.openxmlformats.org/wordprocessingml/2006/main" ns17:eastAsia="PingFang SC"/>
              </a:rPr>
              <a:t>    • Fixed-price contracts with frozen scope  固定价格且范围冻结的合同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2E74B5"/>
                </a:solidFill>
                <a:latin typeface="Calibri"/>
                <ns18:rFonts xmlns:ns18="http://schemas.openxmlformats.org/wordprocessingml/2006/main" ns18:eastAsia="PingFang SC"/>
              </a:rPr>
              <a:t>▪ </a:t>
            </a:r>
            <a:r>
              <a:rPr sz="1450" b="0" i="0">
                <a:solidFill>
                  <a:srgbClr val="2B2B2B"/>
                </a:solidFill>
                <a:latin typeface="Calibri"/>
                <ns19:rFonts xmlns:ns19="http://schemas.openxmlformats.org/wordprocessingml/2006/main" ns19:eastAsia="PingFang SC"/>
              </a:rPr>
              <a:t>Agile is a trade-off, not a religion — choose consciously  敏捷是权衡不是信仰——有意识地选择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20:rFonts xmlns:ns20="http://schemas.openxmlformats.org/wordprocessingml/2006/main" ns20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21:rFonts xmlns:ns21="http://schemas.openxmlformats.org/wordprocessingml/2006/main" ns21:eastAsia="PingFang SC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64592" cy="173736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7373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8A86B"/>
                </a:solidFill>
                <a:latin typeface="Calibri"/>
                <ns0:rFonts xmlns:ns0="http://schemas.openxmlformats.org/wordprocessingml/2006/main" ns0:eastAsia="PingFang SC"/>
              </a:rPr>
              <a:t>Part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3172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  <ns1:rFonts xmlns:ns1="http://schemas.openxmlformats.org/wordprocessingml/2006/main" ns1:eastAsia="PingFang SC"/>
              </a:rPr>
              <a:t>Class Activities</a:t>
            </a:r>
            <a:r>
              <a:rPr sz="2000" b="0" i="0">
                <a:solidFill>
                  <a:srgbClr val="BDD0E8"/>
                </a:solidFill>
                <a:latin typeface="Calibri"/>
                <ns2:rFonts xmlns:ns2="http://schemas.openxmlformats.org/wordprocessingml/2006/main" ns2:eastAsia="PingFang SC"/>
              </a:rPr>
              <a:t>   课堂活动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DE6F2"/>
                </a:solidFill>
                <a:latin typeface="Calibri"/>
                <ns3:rFonts xmlns:ns3="http://schemas.openxmlformats.org/wordprocessingml/2006/main" ns3:eastAsia="PingFang SC"/>
              </a:rPr>
              <a:t>Practice the mindset before you need it</a:t>
            </a:r>
            <a:r>
              <a:rPr sz="12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   在需要之前先练起来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Exercise 1 — Value or Violation?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练习1：符合还是违背宣言？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183112" cy="86868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  <ns2:rFonts xmlns:ns2="http://schemas.openxmlformats.org/wordprocessingml/2006/main" ns2:eastAsia="PingFang SC"/>
              </a:rPr>
              <a:t>For each situation: does it ALIGN with the Agile Manifesto, or VIOLATE it?  判断每个情境符合还是违背敏捷宣言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7A2E"/>
                </a:solidFill>
                <a:latin typeface="Calibri"/>
                <ns3:rFonts xmlns:ns3="http://schemas.openxmlformats.org/wordprocessingml/2006/main" ns3:eastAsia="PingFang SC"/>
              </a:rPr>
              <a:t>Individual quick-fire · 4 min  个人快答 · 4 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1118311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A. Team skips ALL documentation — “working software is everything.”  跳过一切文档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B. Customer attends sprint reviews and re-orders the backlog.  客户参加评审并重排待办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C. Market shifts mid-project; team re-plans the next sprint.  市场突变，团队重计划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D. Manager assigns daily tasks to each developer.  经理分派每日任务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2:rFonts xmlns:ns12="http://schemas.openxmlformats.org/wordprocessingml/2006/main" ns12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E. Two developers pair on the hardest story.  两人结对攻最难故事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4:rFonts xmlns:ns14="http://schemas.openxmlformats.org/wordprocessingml/2006/main" ns1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5:rFonts xmlns:ns15="http://schemas.openxmlformats.org/wordprocessingml/2006/main" ns15:eastAsia="PingFang SC"/>
              </a:rPr>
              <a:t>F. Shipping every 6 months because “the full plan was approved.”  半年一交付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892040"/>
            <a:ext cx="11183112" cy="100584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 i="0">
                <a:solidFill>
                  <a:srgbClr val="3E8E5A"/>
                </a:solidFill>
                <a:latin typeface="Calibri"/>
                <ns16:rFonts xmlns:ns16="http://schemas.openxmlformats.org/wordprocessingml/2006/main" ns16:eastAsia="PingFang SC"/>
              </a:rPr>
              <a:t>Answer 答案: </a:t>
            </a:r>
            <a:r>
              <a:rPr sz="1400" b="0" i="0">
                <a:solidFill>
                  <a:srgbClr val="2B2B2B"/>
                </a:solidFill>
                <a:latin typeface="Calibri"/>
                <ns17:rFonts xmlns:ns17="http://schemas.openxmlformats.org/wordprocessingml/2006/main" ns17:eastAsia="PingFang SC"/>
              </a:rPr>
              <a:t>A violates (docs still matter — “just enough”); B aligns (customer collaboration); C aligns (responding to change); D violates (individuals &amp; interactions / trust); E aligns (collaboration); F violates (early, frequent delivery)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8:rFonts xmlns:ns18="http://schemas.openxmlformats.org/wordprocessingml/2006/main" ns18:eastAsia="PingFang SC"/>
              </a:rPr>
              <a:t>Software Engineering I · 2026-2027-1 · Ren Zheng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9:rFonts xmlns:ns19="http://schemas.openxmlformats.org/wordprocessingml/2006/main" ns19:eastAsia="PingFang SC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Exercise 2 — User Story Workshop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练习2：用户故事工坊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183112" cy="86868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  <ns2:rFonts xmlns:ns2="http://schemas.openxmlformats.org/wordprocessingml/2006/main" ns2:eastAsia="PingFang SC"/>
              </a:rPr>
              <a:t>Write 3 user stories for SafeHome in the standard format, each with acceptance hints  为 SafeHome 写 3 条标准格式用户故事并附验收提示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7A2E"/>
                </a:solidFill>
                <a:latin typeface="Calibri"/>
                <ns3:rFonts xmlns:ns3="http://schemas.openxmlformats.org/wordprocessingml/2006/main" ns3:eastAsia="PingFang SC"/>
              </a:rPr>
              <a:t>Groups of 5–6 · 8 min → share 1 story per group  小组 · 8 分钟 → 每组分享 1 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1118311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Format 格式: As a 〈role〉, I want 〈feature〉, so that 〈benefit〉.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Pick roles from: homeowner 房主 / security guard 保安 / installer 安装员 / parent 家长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Think about: arming/disarming, sensors, alerts, video, scheduling, guest access  布防撤防、传感器、告警、视频、定时、访客权限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Each story: one sentence + 2 acceptance criteria  每条故事一句话 + 2 条验收标准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892040"/>
            <a:ext cx="11183112" cy="100584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 w="9525">
            <a:solidFill>
              <a:srgbClr val="C9D4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 i="0">
                <a:solidFill>
                  <a:srgbClr val="3E8E5A"/>
                </a:solidFill>
                <a:latin typeface="Calibri"/>
                <ns12:rFonts xmlns:ns12="http://schemas.openxmlformats.org/wordprocessingml/2006/main" ns12:eastAsia="PingFang SC"/>
              </a:rPr>
              <a:t>Answer 答案: </a:t>
            </a:r>
            <a:r>
              <a:rPr sz="14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Example: As a homeowner, I want to receive an SMS alert when a motion sensor triggers while armed, so that I can react immediately. AC1: alert arrives &lt; 10 s; AC2: message says which sensor fired.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Software Engineering I · 2026-2027-1 · Ren Zheng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Exercise 3 — Mini Daily Scrum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练习3：迷你每日站会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183112" cy="86868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F3864"/>
                </a:solidFill>
                <a:latin typeface="Calibri"/>
                <ns2:rFonts xmlns:ns2="http://schemas.openxmlformats.org/wordprocessingml/2006/main" ns2:eastAsia="PingFang SC"/>
              </a:rPr>
              <a:t>Run a 3-minute Daily Scrum inside your group — every member answers the three questions  组内跑一场 3 分钟每日站会，人人回答三问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7A2E"/>
                </a:solidFill>
                <a:latin typeface="Calibri"/>
                <ns3:rFonts xmlns:ns3="http://schemas.openxmlformats.org/wordprocessingml/2006/main" ns3:eastAsia="PingFang SC"/>
              </a:rPr>
              <a:t>Groups · 5 min  小组 · 5 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1118311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Stand up — really stand 真的站起来 (it keeps it short)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Each member: yesterday / today / impediments  每人：昨天 / 今天 / 障碍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One member acts as Scrum Master: watch the 3-minute time-box and note impediments  一人扮演 Scrum Master：控时并记录障碍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6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Debrief: what did the time-box change about the conversation?  反思：时限改变了什么？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Today’s Summary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Agile = a mindset: 4 values + 12 principles — valuing the left over the right  敏捷是理念：四价值观 + 十二原则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Agile ≠ no docs, no plan, no discipline — it is disciplined adaptability  敏捷 ≠ 无文档无计划，而是有纪律的适应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Scrum = 3 roles + 5 events + 3 artifacts, on empiricism (transparency / inspection / adaptation)  Scrum = 三角色+五事件+三工件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The sprint is a fixed container that always yields a usable Increment  冲刺是固定容器，永远产出可用增量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7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Agile has boundaries: safety-critical &amp; frozen-scope projects fit poorly  敏捷有边界，安全关键与范围冻结项目并不适合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120640"/>
            <a:ext cx="11183112" cy="1051560"/>
          </a:xfrm>
          <a:prstGeom prst="roundRect">
            <a:avLst>
              <a:gd name="adj" fmla="val 12000"/>
            </a:avLst>
          </a:prstGeom>
          <a:solidFill>
            <a:srgbClr val="DC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  <ns12:rFonts xmlns:ns12="http://schemas.openxmlformats.org/wordprocessingml/2006/main" ns12:eastAsia="PingFang SC"/>
              </a:rPr>
              <a:t>Key Takeaway 核心要点: </a:t>
            </a:r>
            <a:r>
              <a:rPr sz="1500" b="0" i="0">
                <a:solidFill>
                  <a:srgbClr val="2B2B2B"/>
                </a:solidFill>
                <a:latin typeface="Calibri"/>
                <ns13:rFonts xmlns:ns13="http://schemas.openxmlformats.org/wordprocessingml/2006/main" ns13:eastAsia="PingFang SC"/>
              </a:rPr>
              <a:t>Agility is how you respond to change — Scrum is one proven way to organize it. 敏捷是应对变化的方式，Scrum 是组织它的一种成熟框架。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4:rFonts xmlns:ns14="http://schemas.openxmlformats.org/wordprocessingml/2006/main" ns14:eastAsia="PingFang SC"/>
              </a:rPr>
              <a:t>Software Engineering I · 2026-2027-1 · Ren Zheng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5:rFonts xmlns:ns15="http://schemas.openxmlformats.org/wordprocessingml/2006/main" ns15:eastAsia="PingFang SC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28016" cy="6035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2500" b="1" i="0">
                <a:solidFill>
                  <a:srgbClr val="1F3864"/>
                </a:solidFill>
                <a:latin typeface="Calibri"/>
                <ns0:rFonts xmlns:ns0="http://schemas.openxmlformats.org/wordprocessingml/2006/main" ns0:eastAsia="PingFang SC"/>
              </a:rPr>
              <a:t>Homework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A8A8A"/>
                </a:solidFill>
                <a:latin typeface="Calibri"/>
                <ns1:rFonts xmlns:ns1="http://schemas.openxmlformats.org/wordprocessingml/2006/main" ns1:eastAsia="PingFang SC"/>
              </a:rPr>
              <a:t>课后作业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83112" cy="20320"/>
          </a:xfrm>
          <a:prstGeom prst="rect">
            <a:avLst/>
          </a:prstGeom>
          <a:solidFill>
            <a:srgbClr val="C9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311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2:rFonts xmlns:ns2="http://schemas.openxmlformats.org/wordprocessingml/2006/main" ns2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3:rFonts xmlns:ns3="http://schemas.openxmlformats.org/wordprocessingml/2006/main" ns3:eastAsia="PingFang SC"/>
              </a:rPr>
              <a:t>Read: Pressman Ch.3, agile development section  阅读 Pressman 第 3 章敏捷开发部分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4:rFonts xmlns:ns4="http://schemas.openxmlformats.org/wordprocessingml/2006/main" ns4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5:rFonts xmlns:ns5="http://schemas.openxmlformats.org/wordprocessingml/2006/main" ns5:eastAsia="PingFang SC"/>
              </a:rPr>
              <a:t>Skim: The Scrum Guide (2020) — 13 pages, the canonical text  通读 Scrum Guide 2020——仅 13 页权威文本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6:rFonts xmlns:ns6="http://schemas.openxmlformats.org/wordprocessingml/2006/main" ns6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7:rFonts xmlns:ns7="http://schemas.openxmlformats.org/wordprocessingml/2006/main" ns7:eastAsia="PingFang SC"/>
              </a:rPr>
              <a:t>Team task 团队任务: draft an initial Product Backlog for SafeHome — 8–10 user stories, ordered by value, top 3 with acceptance criteria  为 SafeHome 起草初始产品待办：8–10 条用户故事，按价值排序，前 3 条附验收标准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8:rFonts xmlns:ns8="http://schemas.openxmlformats.org/wordprocessingml/2006/main" ns8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9:rFonts xmlns:ns9="http://schemas.openxmlformats.org/wordprocessingml/2006/main" ns9:eastAsia="PingFang SC"/>
              </a:rPr>
              <a:t>Due: Week 4 — you will need it for project kickoff &amp; team formation  下周项目启动与分组时要用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  <ns10:rFonts xmlns:ns10="http://schemas.openxmlformats.org/wordprocessingml/2006/main" ns10:eastAsia="PingFang SC"/>
              </a:rPr>
              <a:t>▪ </a:t>
            </a:r>
            <a:r>
              <a:rPr sz="1500" b="0" i="0">
                <a:solidFill>
                  <a:srgbClr val="2B2B2B"/>
                </a:solidFill>
                <a:latin typeface="Calibri"/>
                <ns11:rFonts xmlns:ns11="http://schemas.openxmlformats.org/wordprocessingml/2006/main" ns11:eastAsia="PingFang SC"/>
              </a:rPr>
              <a:t>Optional: watch one Scrum intro video and note 1 thing that surprised you  选做：看一段 Scrum 入门视频，记下 1 个惊讶点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A8A"/>
                </a:solidFill>
                <a:latin typeface="Calibri"/>
                <ns12:rFonts xmlns:ns12="http://schemas.openxmlformats.org/wordprocessingml/2006/main" ns12:eastAsia="PingFang SC"/>
              </a:rPr>
              <a:t>Software Engineering I · 2026-2027-1 · Ren Zheng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  <ns13:rFonts xmlns:ns13="http://schemas.openxmlformats.org/wordprocessingml/2006/main" ns13:eastAsia="PingFang SC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70448" y="2743200"/>
            <a:ext cx="457200" cy="457200"/>
          </a:xfrm>
          <a:prstGeom prst="ellipse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24612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  <ns0:rFonts xmlns:ns0="http://schemas.openxmlformats.org/wordprocessingml/2006/main" ns0:eastAsia="PingFang SC"/>
              </a:rPr>
              <a:t>Thank You!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BDD0E8"/>
                </a:solidFill>
                <a:latin typeface="Calibri"/>
                <ns1:rFonts xmlns:ns1="http://schemas.openxmlformats.org/wordprocessingml/2006/main" ns1:eastAsia="PingFang SC"/>
              </a:rPr>
              <a:t>谢谢！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DE6F2"/>
                </a:solidFill>
                <a:latin typeface="Calibri"/>
                <ns2:rFonts xmlns:ns2="http://schemas.openxmlformats.org/wordprocessingml/2006/main" ns2:eastAsia="PingFang SC"/>
              </a:rPr>
              <a:t>Next week: Requirements Inception &amp; Elicitation — project kickoff &amp; team formation  下周：需求启始与获取——项目启动与分组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B4D4"/>
                </a:solidFill>
                <a:latin typeface="Calibri"/>
                <ns3:rFonts xmlns:ns3="http://schemas.openxmlformats.org/wordprocessingml/2006/main" ns3:eastAsia="PingFang SC"/>
              </a:rPr>
              <a:t>See you next week!</a:t>
            </a:r>
            <a:r>
              <a:rPr sz="1200" b="0" i="0">
                <a:solidFill>
                  <a:srgbClr val="9FB4D4"/>
                </a:solidFill>
                <a:latin typeface="Calibri"/>
                <ns4:rFonts xmlns:ns4="http://schemas.openxmlformats.org/wordprocessingml/2006/main" ns4:eastAsia="PingFang SC"/>
              </a:rPr>
              <a:t>   下周见！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