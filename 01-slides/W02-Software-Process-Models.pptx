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64592" cy="2286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2103120"/>
            <a:ext cx="9692640" cy="25400"/>
          </a:xfrm>
          <a:prstGeom prst="rect">
            <a:avLst/>
          </a:prstGeom>
          <a:solidFill>
            <a:srgbClr val="4A6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Software Process Models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软件过程模型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Week 2 — How we organize the work of building software</a:t>
            </a:r>
            <a:r>
              <a:rPr sz="14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   如何组织软件开发工作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120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Instructor 授课教师: Ren Zheng 任政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5:rFonts xmlns:ns5="http://schemas.openxmlformats.org/wordprocessingml/2006/main" ns5:eastAsia="PingFang SC"/>
              </a:rPr>
              <a:t>Week 2 第 2 周 | Software Engineering I · 32 hours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6:rFonts xmlns:ns6="http://schemas.openxmlformats.org/wordprocessingml/2006/main" ns6:eastAsia="PingFang SC"/>
              </a:rPr>
              <a:t>Class 班级: International Bilingual Class, 29 students  国际双语班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Contents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2:rFonts xmlns:ns2="http://schemas.openxmlformats.org/wordprocessingml/2006/main" ns2:eastAsia="PingFang SC"/>
              </a:rPr>
              <a:t>01  </a:t>
            </a:r>
            <a:r>
              <a:rPr sz="18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A. Review &amp; Motivation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回顾与导入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5:rFonts xmlns:ns5="http://schemas.openxmlformats.org/wordprocessingml/2006/main" ns5:eastAsia="PingFang SC"/>
              </a:rPr>
              <a:t>02  </a:t>
            </a:r>
            <a:r>
              <a:rPr sz="18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B. What Is a Software Process?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什么是软件过程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8:rFonts xmlns:ns8="http://schemas.openxmlformats.org/wordprocessingml/2006/main" ns8:eastAsia="PingFang SC"/>
              </a:rPr>
              <a:t>03  </a:t>
            </a:r>
            <a:r>
              <a:rPr sz="18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Classic Process Models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经典过程模型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1:rFonts xmlns:ns11="http://schemas.openxmlformats.org/wordprocessingml/2006/main" ns11:eastAsia="PingFang SC"/>
              </a:rPr>
              <a:t>04  </a:t>
            </a:r>
            <a:r>
              <a:rPr sz="18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D. Class Activities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Review &amp; Motivation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回顾与导入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Where we left off — and why process matters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回顾上节课，引出过程的重要性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Last Week Recap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上节课回顾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= instructions + data structures + documentation  软件 = 指令 + 数据结构 + 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Software is a logical product — developed, not manufactured  软件是逻辑产品，靠开发而非制造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Three essences of software engineering: Process + Methods + Tools  软件工程三要素：过程 + 方法 + 工具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A generic process has five framework activities  通用过程含五项框架活动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Engineering means systematic, disciplined, and quantifiable  工程 = 系统化、规范化、可度量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Learning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Define a software process and identify the framework &amp; umbrella activities  定义软件过程，识别框架活动与伞形活动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Describe the classic process models: waterfall, V, incremental, prototyping, spiral, concurrent, RUP  描述经典过程模型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Distinguish incremental from evolutionary development  区分增量式与演化式开发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Choose a suitable process model for a given project and justify it  为给定项目选择合适的过程模型并论证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Apply the choice to your SafeHome project (Exercise 1)  把选择应用到 SafeHome 项目（练习1）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Why Process Matters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为什么过程如此重要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Without a defined process, work is ad hoc — driven by luck, not planning  没有定义的过程，工作就是随意的——靠运气而非计划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Common symptoms 常见症状: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No clear milestones — hard to track progress  没有清晰里程碑，难以跟踪进度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Team members do not know what to do next  成员不知道下一步做什么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Quality depends on individual heroes, not the team  质量依赖个人英雄而非团队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Rework is frequent and costly  返工频繁且代价高昂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 software process is the framework that makes development repeatable and manageable  软件过程是让开发可重复、可管理的框架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What Is a Software Process?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什么是软件过程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A framework for the work of building software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构建软件工作的框架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Process Definition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软件过程的定义（Pressman）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software process is a framework for the tasks that are required to build high-quality software  软件过程是为构建高质量软件所需任务提供的框架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It defines the workflow, not the details of every step  它定义工作流程，而非每个步骤的细节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Key idea: the process is adapted to the project — one size does not fit all  关键：过程要适配项目——没有放之四海而皆准的过程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A process model is an abstract representation of a process  过程模型是对过程的抽象描述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Five Framework Activities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五项框架活动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015337" cy="13716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Communication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沟通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understand the problem
理解问题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54833" y="2468880"/>
            <a:ext cx="201168" cy="5486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56585" y="2057400"/>
            <a:ext cx="2015337" cy="1371600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5:rFonts xmlns:ns5="http://schemas.openxmlformats.org/wordprocessingml/2006/main" ns5:eastAsia="PingFang SC"/>
              </a:rPr>
              <a:t>Planning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DE6F2"/>
                </a:solidFill>
                <a:latin typeface="Calibri"/>
                <ns6:rFonts xmlns:ns6="http://schemas.openxmlformats.org/wordprocessingml/2006/main" ns6:eastAsia="PingFang SC"/>
              </a:rPr>
              <a:t>策划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7:rFonts xmlns:ns7="http://schemas.openxmlformats.org/wordprocessingml/2006/main" ns7:eastAsia="PingFang SC"/>
              </a:rPr>
              <a:t>plan the work
制定计划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71338" y="2468880"/>
            <a:ext cx="201168" cy="5486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3090" y="2057400"/>
            <a:ext cx="2015337" cy="13716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Modeling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DE6F2"/>
                </a:solidFill>
                <a:latin typeface="Calibri"/>
                <ns9:rFonts xmlns:ns9="http://schemas.openxmlformats.org/wordprocessingml/2006/main" ns9:eastAsia="PingFang SC"/>
              </a:rPr>
              <a:t>建模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0:rFonts xmlns:ns10="http://schemas.openxmlformats.org/wordprocessingml/2006/main" ns10:eastAsia="PingFang SC"/>
              </a:rPr>
              <a:t>analysis &amp; design
分析与设计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87843" y="2468880"/>
            <a:ext cx="201168" cy="5486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9595" y="2057400"/>
            <a:ext cx="2015337" cy="1371600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1:rFonts xmlns:ns11="http://schemas.openxmlformats.org/wordprocessingml/2006/main" ns11:eastAsia="PingFang SC"/>
              </a:rPr>
              <a:t>Construction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DE6F2"/>
                </a:solidFill>
                <a:latin typeface="Calibri"/>
                <ns12:rFonts xmlns:ns12="http://schemas.openxmlformats.org/wordprocessingml/2006/main" ns12:eastAsia="PingFang SC"/>
              </a:rPr>
              <a:t>构建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3:rFonts xmlns:ns13="http://schemas.openxmlformats.org/wordprocessingml/2006/main" ns13:eastAsia="PingFang SC"/>
              </a:rPr>
              <a:t>code &amp; test
编码与测试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04348" y="2468880"/>
            <a:ext cx="201168" cy="5486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6100" y="2057400"/>
            <a:ext cx="2015337" cy="13716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Deployment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DE6F2"/>
                </a:solidFill>
                <a:latin typeface="Calibri"/>
                <ns15:rFonts xmlns:ns15="http://schemas.openxmlformats.org/wordprocessingml/2006/main" ns15:eastAsia="PingFang SC"/>
              </a:rPr>
              <a:t>部署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6:rFonts xmlns:ns16="http://schemas.openxmlformats.org/wordprocessingml/2006/main" ns16:eastAsia="PingFang SC"/>
              </a:rPr>
              <a:t>deliver &amp; support
交付与支持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The five framework activities, applied iteratively in most models  五项框架活动——在多数过程模型中迭代执行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Communication → Planning → Modeling → Construction → Deployment  沟通 → 策划 → 建模 → 构建 → 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Software Engineering I · 2026-2027-1 · Ren Zheng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Framework Activities in Detail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框架活动详解（以 SafeHome 为例）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Communication 沟通 — understand stakeholders’ needs (interview, workshop, survey)  理解干系人需求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Planning 策划 — estimate effort, schedule tasks, allocate resources  估算工作量、排期、分配资源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Modeling 建模 — create analysis &amp; design models (UML)  建立分析与设计模型（UML）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Construction 构建 — write code and run tests  编写代码并测试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Deployment 部署 — deliver, install, train users, support  交付、安装、培训用户、提供支持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SafeHome example 结合 SafeHome: communication = interview the owner about alarm scenarios; modeling = draw use cases &amp; domain model  需求访谈 → 用例与领域模型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Umbrella Activities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伞形活动（贯穿全过程）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Project tracking &amp; control 项目跟踪与控制 — monitor progress  监控进度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Risk management 风险管理 — identify and mitigate risks  识别与缓解风险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Software quality assurance 质量保证 — audits and standards  审计与标准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Formal technical reviews 正式技术评审 — find defects early  及早发现缺陷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Measurement 度量 — collect process and product metrics  收集过程与产品度量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Configuration management 配置管理 — manage versions &amp; changes  管理版本与变更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Reusability management 复用管理 — reuse components  复用组件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Work product preparation 工作产物准备 — documents, templates  文档与模板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a Process Model?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什么是过程模型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process model is a structured description of how a process is performed  过程模型是对过程如何执行的结构化描述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It prescribes: the activities, their order, the work products, and the actors  它规定：活动、活动顺序、工作产物和参与者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Models are guides, not prisons — teams adapt them to reality  模型是向导而非牢笼——团队要按现实调整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This week we study the classic models; next week: agile models  本周学习经典模型；下周：敏捷模型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A Generic View of a Process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过程的通用视图（过程帧）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Each activity is a process frame  每个活动都是一个“过程帧”: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Entry criteria 入口条件 — what must be true before starting  开始前必须满足的条件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Task set 任务集 — the work to be done  要做的工作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Milestones 里程碑 — measurable checkpoints  可度量的检查点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Work products 工作产物 — outputs (documents, models, code)  输出（文档、模型、代码）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Exit criteria 出口条件 — when the activity is complete  活动完成的判定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Frames make large processes manageable  过程帧使大型过程可管理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Classic Process Models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经典过程模型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Waterfall · V · Incremental · Prototyping · Spiral · Concurrent · RUP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瀑布 · V · 增量 · 原型 · 螺旋 · 并发 · 统一过程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Waterfall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瀑布模型（经典生命周期）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Communication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8EFF8"/>
                </a:solidFill>
                <a:latin typeface="Calibri"/>
                <ns3:rFonts xmlns:ns3="http://schemas.openxmlformats.org/wordprocessingml/2006/main" ns3:eastAsia="PingFang SC"/>
              </a:rPr>
              <a:t>沟通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requirements  需求收集</a:t>
            </a:r>
          </a:p>
        </p:txBody>
      </p:sp>
      <p:sp>
        <p:nvSpPr>
          <p:cNvPr id="6" name="Down Arrow 5"/>
          <p:cNvSpPr/>
          <p:nvPr/>
        </p:nvSpPr>
        <p:spPr>
          <a:xfrm>
            <a:off x="2743200" y="4572000"/>
            <a:ext cx="1737360" cy="365760"/>
          </a:xfrm>
          <a:prstGeom prst="down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3730752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5:rFonts xmlns:ns5="http://schemas.openxmlformats.org/wordprocessingml/2006/main" ns5:eastAsia="PingFang SC"/>
              </a:rPr>
              <a:t>Planning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8EFF8"/>
                </a:solidFill>
                <a:latin typeface="Calibri"/>
                <ns6:rFonts xmlns:ns6="http://schemas.openxmlformats.org/wordprocessingml/2006/main" ns6:eastAsia="PingFang SC"/>
              </a:rPr>
              <a:t>策划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7:rFonts xmlns:ns7="http://schemas.openxmlformats.org/wordprocessingml/2006/main" ns7:eastAsia="PingFang SC"/>
              </a:rPr>
              <a:t>plan  项目计划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80560" y="4187952"/>
            <a:ext cx="1737360" cy="365760"/>
          </a:xfrm>
          <a:prstGeom prst="down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3346704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3F5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Modeling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8EFF8"/>
                </a:solidFill>
                <a:latin typeface="Calibri"/>
                <ns9:rFonts xmlns:ns9="http://schemas.openxmlformats.org/wordprocessingml/2006/main" ns9:eastAsia="PingFang SC"/>
              </a:rPr>
              <a:t>建模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0:rFonts xmlns:ns10="http://schemas.openxmlformats.org/wordprocessingml/2006/main" ns10:eastAsia="PingFang SC"/>
              </a:rPr>
              <a:t>analysis &amp; design  分析与设计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217920" y="3803904"/>
            <a:ext cx="1737360" cy="365760"/>
          </a:xfrm>
          <a:prstGeom prst="down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2962656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1:rFonts xmlns:ns11="http://schemas.openxmlformats.org/wordprocessingml/2006/main" ns11:eastAsia="PingFang SC"/>
              </a:rPr>
              <a:t>Construction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8EFF8"/>
                </a:solidFill>
                <a:latin typeface="Calibri"/>
                <ns12:rFonts xmlns:ns12="http://schemas.openxmlformats.org/wordprocessingml/2006/main" ns12:eastAsia="PingFang SC"/>
              </a:rPr>
              <a:t>构建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3:rFonts xmlns:ns13="http://schemas.openxmlformats.org/wordprocessingml/2006/main" ns13:eastAsia="PingFang SC"/>
              </a:rPr>
              <a:t>code &amp; test  编码与测试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955280" y="3419856"/>
            <a:ext cx="1737360" cy="365760"/>
          </a:xfrm>
          <a:prstGeom prst="down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2578608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Deployment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E8EFF8"/>
                </a:solidFill>
                <a:latin typeface="Calibri"/>
                <ns15:rFonts xmlns:ns15="http://schemas.openxmlformats.org/wordprocessingml/2006/main" ns15:eastAsia="PingFang SC"/>
              </a:rPr>
              <a:t>部署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DE6F2"/>
                </a:solidFill>
                <a:latin typeface="Calibri"/>
                <ns16:rFonts xmlns:ns16="http://schemas.openxmlformats.org/wordprocessingml/2006/main" ns16:eastAsia="PingFang SC"/>
              </a:rPr>
              <a:t>delivery  交付与维护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5544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Sequential phases, one after another — classic life cycle  顺序执行，一阶段接一阶段——经典生命周期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8:rFonts xmlns:ns18="http://schemas.openxmlformats.org/wordprocessingml/2006/main" ns18:eastAsia="PingFang SC"/>
              </a:rPr>
              <a:t>Drawbacks 局限: </a:t>
            </a:r>
            <a:r>
              <a:rPr sz="125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feedback only at the end 反馈只在最后 · cannot accommodate uncertainty 无法容纳不确定性 · risk concentrated late 风险集中在后期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Sequential development: each phase completes before the next begins  顺序开发：上一阶段完成才进入下一阶段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Software Engineering I · 2026-2027-1 · Ren Zheng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Waterfall: The Phases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瀑布模型：五个阶段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Communication 沟通 — gather and understand requirements  收集并理解需求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Planning 策划 — estimate, schedule, plan the project  估算、排期、制定计划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Modeling 建模 — analysis model, then design model  分析模型，再设计模型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Construction 构建 — code generation and testing  编码与测试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Deployment 部署 — delivery, support, feedback  交付、支持、反馈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Introduced by Winston Royce (1970) — the earliest formal process model  由 Royce 于 1970 年提出——最早的正式过程模型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Waterfall: Strengths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瀑布模型的优点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Simple and easy to understand  简单易懂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Documentation-driven: every phase produces documents  文档驱动：每阶段都有文档产出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Clear milestones make progress measurable  里程碑清晰，进度可度量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Well suited to stable, well-understood requirements  适合需求稳定、明确的项目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Easy to manage and review stage by stage  便于分阶段管理与评审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Waterfall: Weaknesses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瀑布模型的缺点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Feedback arrives only at the end — defects found late are expensive  反馈只在最后出现——晚期发现缺陷代价高昂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Cannot accommodate uncertainty: late changes are very costly  无法容纳不确定性：后期变更成本极高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Risk is concentrated at the end of the project  风险集中在项目后期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Users see a working product only at the very end  用户直到最后才能看到可运行的产品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Best avoided when requirements are expected to change  需求预期会变时，应避免使用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V-Model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V 模型（验证与确认对称）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variation of the waterfall that emphasizes verification and validation  瀑布的变体，强调验证与确认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Left leg: development — requirements → design → code  左腿：开发——需求 → 设计 → 编码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Right leg: testing — unit → integration → system → acceptance  右腿：测试——单元 → 集成 → 系统 → 验收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Each development stage maps to a corresponding test stage  每个开发阶段对应一个测试阶段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Shows that testing is not an afterthought — it is planned from the start  表明测试不是事后工作，而应从一开始就规划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Incremental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增量模型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44240" cy="2377440"/>
          </a:xfrm>
          <a:prstGeom prst="roundRect">
            <a:avLst>
              <a:gd name="adj" fmla="val 5000"/>
            </a:avLst>
          </a:prstGeom>
          <a:solidFill>
            <a:srgbClr val="DCE8F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Increment 1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Core features
核心功能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4:rFonts xmlns:ns4="http://schemas.openxmlformats.org/wordprocessingml/2006/main" ns4:eastAsia="PingFang SC"/>
              </a:rPr>
              <a:t>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4764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5:rFonts xmlns:ns5="http://schemas.openxmlformats.org/wordprocessingml/2006/main" ns5:eastAsia="PingFang SC"/>
              </a:rP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8008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6:rFonts xmlns:ns6="http://schemas.openxmlformats.org/wordprocessingml/2006/main" ns6:eastAsia="PingFang SC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1252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7:rFonts xmlns:ns7="http://schemas.openxmlformats.org/wordprocessingml/2006/main" ns7:eastAsia="PingFang SC"/>
              </a:rPr>
              <a:t>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4496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194560"/>
            <a:ext cx="3444240" cy="2377440"/>
          </a:xfrm>
          <a:prstGeom prst="roundRect">
            <a:avLst>
              <a:gd name="adj" fmla="val 5000"/>
            </a:avLst>
          </a:prstGeom>
          <a:solidFill>
            <a:srgbClr val="DCE8F4"/>
          </a:solidFill>
          <a:ln w="254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Increment 2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+ More features
更多功能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0080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1:rFonts xmlns:ns11="http://schemas.openxmlformats.org/wordprocessingml/2006/main" ns11:eastAsia="PingFang SC"/>
              </a:rPr>
              <a:t>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324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6568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3:rFonts xmlns:ns13="http://schemas.openxmlformats.org/wordprocessingml/2006/main" ns13:eastAsia="PingFang SC"/>
              </a:rPr>
              <a:t>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9812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4:rFonts xmlns:ns14="http://schemas.openxmlformats.org/wordprocessingml/2006/main" ns14:eastAsia="PingFang SC"/>
              </a:rPr>
              <a:t>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3056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ns15:rFonts xmlns:ns15="http://schemas.openxmlformats.org/wordprocessingml/2006/main" ns15:eastAsia="PingFang SC"/>
              </a:rPr>
              <a:t>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194560"/>
            <a:ext cx="3444240" cy="2377440"/>
          </a:xfrm>
          <a:prstGeom prst="roundRect">
            <a:avLst>
              <a:gd name="adj" fmla="val 5000"/>
            </a:avLst>
          </a:prstGeom>
          <a:solidFill>
            <a:srgbClr val="DCE8F4"/>
          </a:solidFill>
          <a:ln w="254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E87A2E"/>
                </a:solidFill>
                <a:latin typeface="Calibri"/>
                <ns16:rFonts xmlns:ns16="http://schemas.openxmlformats.org/wordprocessingml/2006/main" ns16:eastAsia="PingFang SC"/>
              </a:rPr>
              <a:t>Increment 3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Full product
完整产品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8640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8:rFonts xmlns:ns18="http://schemas.openxmlformats.org/wordprocessingml/2006/main" ns18:eastAsia="PingFang SC"/>
              </a:rPr>
              <a:t>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1884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19:rFonts xmlns:ns19="http://schemas.openxmlformats.org/wordprocessingml/2006/main" ns19:eastAsia="PingFang SC"/>
              </a:rPr>
              <a:t>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5128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20:rFonts xmlns:ns20="http://schemas.openxmlformats.org/wordprocessingml/2006/main" ns20:eastAsia="PingFang SC"/>
              </a:rPr>
              <a:t>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58372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B8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1F3864"/>
                </a:solidFill>
                <a:latin typeface="Calibri"/>
                <ns21:rFonts xmlns:ns21="http://schemas.openxmlformats.org/wordprocessingml/2006/main" ns21:eastAsia="PingFang SC"/>
              </a:rPr>
              <a:t>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21616" y="3246120"/>
            <a:ext cx="608380" cy="384048"/>
          </a:xfrm>
          <a:prstGeom prst="roundRect">
            <a:avLst>
              <a:gd name="adj" fmla="val 25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ns22:rFonts xmlns:ns22="http://schemas.openxmlformats.org/wordprocessingml/2006/main" ns22:eastAsia="PingFang SC"/>
              </a:rPr>
              <a:t>Deploy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65448" y="4846320"/>
            <a:ext cx="237744" cy="41148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684008" y="4846320"/>
            <a:ext cx="237744" cy="41148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23:rFonts xmlns:ns23="http://schemas.openxmlformats.org/wordprocessingml/2006/main" ns23:eastAsia="PingFang SC"/>
              </a:rPr>
              <a:t>Each increment delivers a working portion of the product  每个增量交付产品的一个可用部分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Not evolutionary: the final product is planned up-front; only its delivery is split  注意：这不是演化模型——最终产品预先规划好，只是分块交付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Core features first, then add functionality in increments  先交付核心功能，再按增量逐步增加功能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6:rFonts xmlns:ns26="http://schemas.openxmlformats.org/wordprocessingml/2006/main" ns26:eastAsia="PingFang SC"/>
              </a:rPr>
              <a:t>Software Engineering I · 2026-2027-1 · Ren Zheng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7:rFonts xmlns:ns27="http://schemas.openxmlformats.org/wordprocessingml/2006/main" ns27:eastAsia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Incremental: How It Works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增量模型的工作原理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The product is planned as a whole, but delivered in increments  产品整体规划，但分增量交付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Each increment goes through the full process (plan, model, build, test, deploy)  每个增量都走完整过程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Increment 1 usually delivers the core, most valuable features  第 1 个增量通常交付最核心、最有价值的功能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Users get a working product early and give early feedback  用户尽早获得可用产品并提供早期反馈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Risk is spread across increments instead of one big bang  风险分散到各个增量，而非一次交付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Key point: the final product is defined up-front — only delivery is split  关键：最终产品是预先定义的，只是交付被拆分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Incremental vs Waterfall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增量 vs 瀑布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393192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Aspect  维度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Waterfall  瀑布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Incremental  增量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First delivery  首次交付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At the very end  项目最后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After increment 1  第1个增量后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User feedback  用户反馈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Only at the end  只有最后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After every increment  每个增量后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Risk exposure  风险暴露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Concentrated at the end  集中在后期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Spread over increments  分散到各增量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Requirements  需求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Must be stable  必须稳定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Stable, but delivered in pieces  稳定但分块交付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Model type  模型类型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Sequential  顺序型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Iterative delivery  迭代交付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Evolutionary Models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演化模型：为什么出现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Reality: for many projects, requirements are not fully known at the start  现实：许多项目开始时需求并不完全清楚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Business needs change while the project runs  业务需求在项目进行中不断变化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Evolutionary models: develop an initial version, then evolve it through many versions  演化模型：先开发一个初始版本，再通过多个版本逐步演化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Three common evolutionary models  三种常见演化模型: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Prototyping 原型模型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Spiral model 螺旋模型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Concurrent model 并发模型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Incremental ≠ evolutionary: incremental splits a known product; evolutionary discovers the product  增量 ≠ 演化：增量是拆分已知产品，演化是探索产品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Prototyping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原型模型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00600" y="2606040"/>
            <a:ext cx="2560320" cy="1005840"/>
          </a:xfrm>
          <a:prstGeom prst="roundRect">
            <a:avLst>
              <a:gd name="adj" fmla="val 15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Prototype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  <ns3:rFonts xmlns:ns3="http://schemas.openxmlformats.org/wordprocessingml/2006/main" ns3:eastAsia="PingFang SC"/>
              </a:rPr>
              <a:t>原型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FDE8D6"/>
                </a:solidFill>
                <a:latin typeface="Calibri"/>
                <ns4:rFonts xmlns:ns4="http://schemas.openxmlformats.org/wordprocessingml/2006/main" ns4:eastAsia="PingFang SC"/>
              </a:rPr>
              <a:t>quick, working model  快速可运行模型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926080" cy="777240"/>
          </a:xfrm>
          <a:prstGeom prst="roundRect">
            <a:avLst>
              <a:gd name="adj" fmla="val 14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5:rFonts xmlns:ns5="http://schemas.openxmlformats.org/wordprocessingml/2006/main" ns5:eastAsia="PingFang SC"/>
              </a:rPr>
              <a:t>Listen to user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听取用户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2926080" cy="777240"/>
          </a:xfrm>
          <a:prstGeom prst="roundRect">
            <a:avLst>
              <a:gd name="adj" fmla="val 14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7:rFonts xmlns:ns7="http://schemas.openxmlformats.org/wordprocessingml/2006/main" ns7:eastAsia="PingFang SC"/>
              </a:rPr>
              <a:t>Build / revise mock-up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构建/修改原型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114800"/>
            <a:ext cx="2926080" cy="777240"/>
          </a:xfrm>
          <a:prstGeom prst="roundRect">
            <a:avLst>
              <a:gd name="adj" fmla="val 14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9:rFonts xmlns:ns9="http://schemas.openxmlformats.org/wordprocessingml/2006/main" ns9:eastAsia="PingFang SC"/>
              </a:rPr>
              <a:t>User test drive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用户试用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28800"/>
            <a:ext cx="2926080" cy="777240"/>
          </a:xfrm>
          <a:prstGeom prst="roundRect">
            <a:avLst>
              <a:gd name="adj" fmla="val 14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1:rFonts xmlns:ns11="http://schemas.openxmlformats.org/wordprocessingml/2006/main" ns11:eastAsia="PingFang SC"/>
              </a:rPr>
              <a:t>Feedback on prototype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用户反馈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3:rFonts xmlns:ns13="http://schemas.openxmlformats.org/wordprocessingml/2006/main" ns13:eastAsia="PingFang SC"/>
              </a:rPr>
              <a:t>1.</a:t>
            </a:r>
            <a:r>
              <a:rPr sz="120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> Listen  倾听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033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5:rFonts xmlns:ns15="http://schemas.openxmlformats.org/wordprocessingml/2006/main" ns15:eastAsia="PingFang SC"/>
              </a:rPr>
              <a:t>2.</a:t>
            </a:r>
            <a:r>
              <a:rPr sz="120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 Build  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7033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7:rFonts xmlns:ns17="http://schemas.openxmlformats.org/wordprocessingml/2006/main" ns17:eastAsia="PingFang SC"/>
              </a:rPr>
              <a:t>3.</a:t>
            </a:r>
            <a:r>
              <a:rPr sz="12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 Test  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71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19:rFonts xmlns:ns19="http://schemas.openxmlformats.org/wordprocessingml/2006/main" ns19:eastAsia="PingFang SC"/>
              </a:rPr>
              <a:t>4.</a:t>
            </a:r>
            <a:r>
              <a:rPr sz="1200" b="0" i="0">
                <a:solidFill>
                  <a:srgbClr val="2B2B2B"/>
                </a:solidFill>
                <a:latin typeface="Calibri"/>
                <ns20:rFonts xmlns:ns20="http://schemas.openxmlformats.org/wordprocessingml/2006/main" ns20:eastAsia="PingFang SC"/>
              </a:rPr>
              <a:t> Feedback → repeat  反馈→循环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Prototyping loop: listen → build → test → feedback → revise  原型循环：倾听 → 构建 → 试用 → 反馈 → 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Best when requirements are vague — the prototype clarifies them  适合需求模糊时——原型帮助澄清需求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Listen → Build a prototype → User test → Feedback → Revise  倾听 → 构建原型 → 用户试用 → 反馈 → 修改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Software Engineering I · 2026-2027-1 · Ren Zheng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Prototyping: Strengths &amp; Pitfalls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原型的优点与陷阱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Strengths 优点: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Clarifies vague requirements quickly  快速澄清模糊的需求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Users see something concrete early  用户尽早看到具体的东西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Reduces misunderstandings between users and developers  减少用户与开发者的误解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Pitfalls 陷阱: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Users may mistake the prototype for the final product  用户可能把原型误当成品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Developers may be tempted to ship the prototype as-is  开发者可能想直接交付原型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    • The prototype itself must be planned, not hacked  原型本身也要有规划，不能胡写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Spiral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螺旋模型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0" y="2926080"/>
            <a:ext cx="1005840" cy="1005840"/>
          </a:xfrm>
          <a:prstGeom prst="ellipse">
            <a:avLst/>
          </a:prstGeom>
          <a:noFill/>
          <a:ln w="38100">
            <a:solidFill>
              <a:srgbClr val="DC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66360" y="2514600"/>
            <a:ext cx="1828800" cy="1828800"/>
          </a:xfrm>
          <a:prstGeom prst="ellipse">
            <a:avLst/>
          </a:prstGeom>
          <a:noFill/>
          <a:ln w="38100">
            <a:solidFill>
              <a:srgbClr val="B8C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0" y="2103120"/>
            <a:ext cx="2651760" cy="2651760"/>
          </a:xfrm>
          <a:prstGeom prst="ellipse">
            <a:avLst/>
          </a:prstGeom>
          <a:noFill/>
          <a:ln w="381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0" y="1691640"/>
            <a:ext cx="3474720" cy="3474720"/>
          </a:xfrm>
          <a:prstGeom prst="ellipse">
            <a:avLst/>
          </a:prstGeom>
          <a:noFill/>
          <a:ln w="381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3017520"/>
            <a:ext cx="822960" cy="82296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Risk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Calibri"/>
                <ns3:rFonts xmlns:ns3="http://schemas.openxmlformats.org/wordprocessingml/2006/main" ns3:eastAsia="PingFang SC"/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1. Determine objectives</a:t>
            </a:r>
            <a:r>
              <a:rPr sz="950" b="0" i="0">
                <a:solidFill>
                  <a:srgbClr val="8A8A8A"/>
                </a:solidFill>
                <a:latin typeface="Calibri"/>
                <ns5:rFonts xmlns:ns5="http://schemas.openxmlformats.org/wordprocessingml/2006/main" ns5:eastAsia="PingFang SC"/>
              </a:rPr>
              <a:t>
确定目标、备选方案与约束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6634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2. Evaluate &amp; resolve risks</a:t>
            </a:r>
            <a:r>
              <a:rPr sz="95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
评估备选方案、识别并解决风险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6634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3. Develop &amp; verify</a:t>
            </a:r>
            <a:r>
              <a:rPr sz="950" b="0" i="0">
                <a:solidFill>
                  <a:srgbClr val="8A8A8A"/>
                </a:solidFill>
                <a:latin typeface="Calibri"/>
                <ns9:rFonts xmlns:ns9="http://schemas.openxmlformats.org/wordprocessingml/2006/main" ns9:eastAsia="PingFang SC"/>
              </a:rPr>
              <a:t>
开发并验证下一级产品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6916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4. Plan next iteration</a:t>
            </a:r>
            <a:r>
              <a:rPr sz="95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
计划下一轮迭代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Risk-driven: each loop passes through the four quadrants  风险驱动：每圈经过四个象限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Boehm, 1988 — the radius grows with accumulated cost  圈径随累积成本增大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Boehm 1988 — risk-driven, one loop per phase of the project  风险驱动，项目每个阶段一圈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Software Engineering I · 2026-2027-1 · Ren Zheng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Spiral: The Four Quadrants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螺旋模型：四个象限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Quadrant 1 — Determine objectives, alternatives, and constraints  确定目标、备选方案与约束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Quadrant 2 — Evaluate alternatives; identify and resolve risks  评估备选方案；识别并解决风险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Quadrant 3 — Develop and verify the next-level product  开发并验证下一级产品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Quadrant 4 — Plan the next iteration  计划下一轮迭代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Each loop adds one level of the product — the radius grows with cost  每圈增加一级产品——半径随成本增大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Explicit risk analysis is the signature of the spiral  显式的风险分析是螺旋模型的标志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Spiral: Strengths &amp; Use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螺旋模型的优点与适用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Risk is addressed explicitly and early  风险被显式、及早地处理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Each loop produces a reviewable work product  每圈都有可评审的工作产物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Flexible: any mix of waterfall, prototyping, incremental inside the loops  灵活：圈内可混合瀑布、原型、增量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Best for large, high-risk, innovative projects  最适合大型、高风险、创新性项目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Drawbacks 局限: requires risk-assessment experience; can be expensive to iterate  需要风险评估经验；迭代成本高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Gained wide acceptance in safety-critical systems (aviation, defense)  在安全关键系统（航空、国防）中广泛采用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Concurrent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并发模型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Represents the process as a network of activities running in parallel  将过程表示为并行活动的网络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Each activity is in a state, like a state machine: awaiting changes, under development, under review, done  每个活动处于某个状态，如状态机：待变更、开发中、评审中、完成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Event-driven: a state change in one activity triggers changes in others  事件驱动：一个活动的状态变化触发其他活动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Fits the reality of modern teams working on several features at once  适合现代团队同时推进多个功能模块的现实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Often used as the underlying model for agile processes  常作为敏捷过程的底层模型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RUP — Rational Unified Process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统一过程 RUP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An iterative process framework developed by Rational (now IBM)  由 Rational 开发的迭代式过程框架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Four phases 四个阶段: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Inception 启始 — define scope &amp; business case  定义范围与业务价值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Elaboration 细化 — analyze requirements &amp; design architecture  分析需求、设计架构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Construction 构建 — implement most of the product  实现大部分产品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Transition 移交 — deploy and hand over  部署与移交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Six core workflows run through all phases: business modeling, requirements, analysis &amp; design, implementation, test, deployment  六个核心工作流贯穿各阶段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Process Model Comparison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过程模型对比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286000"/>
                <a:gridCol w="2377440"/>
                <a:gridCol w="2011680"/>
                <a:gridCol w="2130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Model  模型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Requirements  需求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Delivery  交付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Risk  风险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Typical Use  典型场景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Waterfall  瀑布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Stable  稳定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One shot at the end  一次交付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Late 后期集中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Well-understood projects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  需求明确的项目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Incremental  增量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Stable, split  稳定分块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Each increment  每个增量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Spread  分散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Core-first delivery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  核心功能优先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Prototyping  原型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0:rFonts xmlns:ns20="http://schemas.openxmlformats.org/wordprocessingml/2006/main" ns20:eastAsia="PingFang SC"/>
                        </a:rPr>
                        <a:t>Vague  模糊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1:rFonts xmlns:ns21="http://schemas.openxmlformats.org/wordprocessingml/2006/main" ns21:eastAsia="PingFang SC"/>
                        </a:rPr>
                        <a:t>Iterative loops  迭代循环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2:rFonts xmlns:ns22="http://schemas.openxmlformats.org/wordprocessingml/2006/main" ns22:eastAsia="PingFang SC"/>
                        </a:rPr>
                        <a:t>Misuse risk  误用风险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3:rFonts xmlns:ns23="http://schemas.openxmlformats.org/wordprocessingml/2006/main" ns23:eastAsia="PingFang SC"/>
                        </a:rPr>
                        <a:t>Requirements discovery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24:rFonts xmlns:ns24="http://schemas.openxmlformats.org/wordprocessingml/2006/main" ns24:eastAsia="PingFang SC"/>
                        </a:rPr>
                        <a:t>  需求探索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5:rFonts xmlns:ns25="http://schemas.openxmlformats.org/wordprocessingml/2006/main" ns25:eastAsia="PingFang SC"/>
                        </a:rPr>
                        <a:t>Spiral  螺旋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6:rFonts xmlns:ns26="http://schemas.openxmlformats.org/wordprocessingml/2006/main" ns26:eastAsia="PingFang SC"/>
                        </a:rPr>
                        <a:t>Uncertain  不确定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7:rFonts xmlns:ns27="http://schemas.openxmlformats.org/wordprocessingml/2006/main" ns27:eastAsia="PingFang SC"/>
                        </a:rPr>
                        <a:t>Per loop  每圈交付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8:rFonts xmlns:ns28="http://schemas.openxmlformats.org/wordprocessingml/2006/main" ns28:eastAsia="PingFang SC"/>
                        </a:rPr>
                        <a:t>Explicit  显式管理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29:rFonts xmlns:ns29="http://schemas.openxmlformats.org/wordprocessingml/2006/main" ns29:eastAsia="PingFang SC"/>
                        </a:rPr>
                        <a:t>High-risk projects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30:rFonts xmlns:ns30="http://schemas.openxmlformats.org/wordprocessingml/2006/main" ns30:eastAsia="PingFang SC"/>
                        </a:rPr>
                        <a:t>  高风险项目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31:rFonts xmlns:ns31="http://schemas.openxmlformats.org/wordprocessingml/2006/main" ns31:eastAsia="PingFang SC"/>
                        </a:rPr>
                        <a:t>RUP  统一过程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32:rFonts xmlns:ns32="http://schemas.openxmlformats.org/wordprocessingml/2006/main" ns32:eastAsia="PingFang SC"/>
                        </a:rPr>
                        <a:t>Iterative  迭代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33:rFonts xmlns:ns33="http://schemas.openxmlformats.org/wordprocessingml/2006/main" ns33:eastAsia="PingFang SC"/>
                        </a:rPr>
                        <a:t>Per iteration  每轮迭代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34:rFonts xmlns:ns34="http://schemas.openxmlformats.org/wordprocessingml/2006/main" ns34:eastAsia="PingFang SC"/>
                        </a:rPr>
                        <a:t>Managed  受控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B2B2B"/>
                          </a:solidFill>
                          <a:latin typeface="Calibri"/>
                          <ns35:rFonts xmlns:ns35="http://schemas.openxmlformats.org/wordprocessingml/2006/main" ns35:eastAsia="PingFang SC"/>
                        </a:rPr>
                        <a:t>Large OO systems</a:t>
                      </a:r>
                      <a:r>
                        <a:rPr sz="1200" b="0" i="0">
                          <a:solidFill>
                            <a:srgbClr val="8A8A8A"/>
                          </a:solidFill>
                          <a:latin typeface="Calibri"/>
                          <ns36:rFonts xmlns:ns36="http://schemas.openxmlformats.org/wordprocessingml/2006/main" ns36:eastAsia="PingFang SC"/>
                        </a:rPr>
                        <a:t>  大型面向对象系统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37:rFonts xmlns:ns37="http://schemas.openxmlformats.org/wordprocessingml/2006/main" ns37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38:rFonts xmlns:ns38="http://schemas.openxmlformats.org/wordprocessingml/2006/main" ns38:eastAsia="PingFang S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Choosing a Process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如何选择过程模型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No single model fits all projects — choose by context  没有一种模型适合所有项目——按情境选择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Key factors 关键因素: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How clear are the requirements? 需求有多明确？— vague → prototyping / evolutionary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How high is the risk? 风险有多高？— high → spiral (explicit risk management)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Does the customer need early results? 客户需要尽早看到成果吗？— yes → incremental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How large is the team? 团队多大？— large → more formal process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Will requirements keep changing? 需求会持续变化吗？— yes → agile (next week)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Real projects often combine models: waterfall for planning + incremental for delivery  真实项目常组合使用：瀑布规划 + 增量交付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Class Activities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Choose, match, and justify process models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选择、匹配并论证过程模型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1 — Choose a Process for SafeHome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练习1：为 SafeHome 选择过程模型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Your team just started SafeHome. Which process model would you use —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8 minutes in teams, then 1-minute pitch per team  小组讨论8分钟，每组陈述1分钟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Case 项目情况: team of 4-5, one semester, requirements will evolve  小组4-5人、一学期、需求会演化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Step 1: each member proposes a model (3 min); Step 2: discuss &amp; pick one (5 min)  每人提模型 → 讨论选定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Step 3: 1-minute pitch — model + top 2 reasons  每组1分钟陈述：模型 + 两条理由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Hint 提示: try combining incremental delivery + evolutionary discovery  可考虑增量交付 + 演化式探索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2 — Match the Scenario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练习2：场景匹配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For each scenario, which process model fits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3 minutes individually, then team votes  独立思考3分钟，小组投票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A. Government contract: fully specified requirements, fixed acceptance tests  需求完全明确、固定验收的政府合同 → 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B. Startup with only a vague idea: “an app for student group buying”  只有模糊想法的校园团购App → 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Satellite control system with huge safety risks  安全风险巨大的卫星控制系统 →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0:rFonts xmlns:ns10="http://schemas.openxmlformats.org/wordprocessingml/2006/main" ns10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 = Waterfall 瀑布 · B = Prototyping 原型 · C = Spiral 螺旋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3 — Incremental or Evolutionary?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练习3：增量还是演化？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True or False? 判断对错: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2 minutes individually, then check with the neighbor  独立思考2分钟，与邻座核对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“Incremental development delivers the whole product at the end.”  增量开发最后才交付整个产品 → ?（错）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“In evolutionary development, the final product is planned before coding starts.”  演化开发在编码前就规划好最终产品 → ?（错）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“The spiral model explicitly manages risk in every loop.”  螺旋模型每圈都显式管理风险 → ?（对）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0:rFonts xmlns:ns10="http://schemas.openxmlformats.org/wordprocessingml/2006/main" ns10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1 = False 错 · 2 = False 错 · 3 = True 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Today’s Summary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software process is a framework of tasks; process models describe processes  软件过程是任务框架；过程模型描述过程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Five framework activities: communication, planning, modeling, construction, deployment  五项框架活动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Classic models: waterfall &amp; V (sequential) → incremental (split delivery) → evolutionary (prototyping, spiral, concurrent)  经典模型从顺序到增量到演化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Incremental splits a known product; evolutionary discovers an unknown one  增量拆分已知产品，演化探索未知产品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Choose a model by context: requirements clarity, risk, early delivery needs  按情境选择模型：需求明确度、风险、早期交付需求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Key Takeaway 核心要点: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There is no “best” process model — only the most suitable one for your situation.  没有最好的过程模型，只有最适合你情境的那一个。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Homework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课后作业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Read Pressman Ch.2–3  阅读 Pressman 第 2-3 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Team task: write a ONE-PAGE justification of the process model chosen for SafeHome  小组作业：用一页纸论证为 SafeHome 选择的过程模型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Include: chosen model + 3 reasons + what you will deliver each week  内容：模型 + 3 条理由 + 每周交付计划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Submit before next class (Gitee repo / course folder)  下节课前提交（Gitee 仓库 / 课程文件夹）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Preview W03: Agile Development &amp; Scrum  预习 W03：敏捷开发与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Preview of Next Week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下节预告：敏捷开发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Agile manifesto &amp; principles  敏捷宣言与原则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Extreme Programming (XP)  极限编程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Scrum: roles, sprints, ceremonies   Scrum：角色、冲刺、仪式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Scrum vs classic process models   Scrum 与经典过程模型的对比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Think about it: How would a 2-week sprint look for SafeHome?  想一想：SafeHome 的两周 Sprint 会是什么样？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Q &amp; 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Questions &amp; Answers  答疑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2743200"/>
            <a:ext cx="457200" cy="45720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Thank You!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谢谢！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DE6F2"/>
                </a:solidFill>
                <a:latin typeface="Calibri"/>
                <ns2:rFonts xmlns:ns2="http://schemas.openxmlformats.org/wordprocessingml/2006/main" ns2:eastAsia="PingFang SC"/>
              </a:rPr>
              <a:t>Next week: Agile Development &amp; Scrum  下周：敏捷开发与 Scrum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4D4"/>
                </a:solidFill>
                <a:latin typeface="Calibri"/>
                <ns3:rFonts xmlns:ns3="http://schemas.openxmlformats.org/wordprocessingml/2006/main" ns3:eastAsia="PingFang SC"/>
              </a:rPr>
              <a:t>See you next week!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下周见！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